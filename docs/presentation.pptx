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4d353886-7626-9039-9fe0-8f1ebad07994}">
          <p14:sldIdLst>
            <p14:sldId id="256"/>
            <p14:sldId id="257"/>
          </p14:sldIdLst>
        </p14:section>
        <p14:section name="Projet" id="{43befb4d-6028-6beb-b2d3-c51520f765a7}">
          <p14:sldIdLst>
            <p14:sldId id="258"/>
            <p14:sldId id="259"/>
            <p14:sldId id="260"/>
          </p14:sldIdLst>
        </p14:section>
        <p14:section name="Démo" id="{2b83d1e3-bedf-be8d-fefc-78e7a6dbdce5}">
          <p14:sldIdLst>
            <p14:sldId id="261"/>
          </p14:sldIdLst>
        </p14:section>
        <p14:section name="Architecture" id="{ce064f4b-8e0e-9ef4-57f6-471d8f2b8121}">
          <p14:sldIdLst>
            <p14:sldId id="262"/>
          </p14:sldIdLst>
        </p14:section>
        <p14:section name="Analyse" id="{0881901c-a99e-f8ee-961a-fb2bcca88d9b}">
          <p14:sldIdLst>
            <p14:sldId id="263"/>
          </p14:sldIdLst>
        </p14:section>
        <p14:section name="Perspectives" id="{09e3f1d5-266a-d9d1-a756-86e5a6eadd22}">
          <p14:sldIdLst>
            <p14:sldId id="264"/>
          </p14:sldIdLst>
        </p14:section>
        <p14:section name="Audit" id="{2276eb58-b662-9bf4-4d03-34f5beb13d8d}">
          <p14:sldIdLst>
            <p14:sldId id="265"/>
            <p14:sldId id="266"/>
          </p14:sldIdLst>
        </p14:section>
        <p14:section name="Conclusion" id="{dbaf86a8-603e-c730-d1e1-165cb2c952cf}">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Une phrase : mon projet permet d'explorer des équipements en 3D uniquement avec la main devant la webcam. Annoncer les six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six questions posées par le jury, dans cet 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Problème : comprendre la composition d'un équipement avec des schémas figés ou de la CAO lourde, et parfois impossible de toucher (stérile, atelier). Solution : une webcam suffit. Public : étudiants et techniciens, accent sur le biomédical, en lien avec mon parcours en maintenance biomédicale.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Dix équipements en trois familles : transport, aérospatial, biomédical. Chacun est découpé en 6 à 12 pièces avec rôle et matériau. Limite à annoncer honnêtement : les objets sont des formes simples, pas des modèles d'ingénierie.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éclatée du scanner IRM : les pièces s'écartent pour montrer l'assemblage. Chaque pièce a une fiche (rôle, matériau) accessible en la pointant du doigt. Mon parcours en maintenance biomédicale donne du poids à ce contenu.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la démo en direct en suivant ce déroulé. Avant : serveur local lancé (python -m http.server 8000), caméra autorisée, lumière face à soi, main à 50 cm. Les doigts orange sont ceux que le programme compte comme levés. Si la caméra échoue : passer au mode souris ou montrer l'enregistrement d'écran préparé. Inviter une personne extérieure à essayer.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s'exécute dans le navigateur : pas de serveur, pas de base de données, pas de compte. La caméra alimente la détection MediaPipe (21 points par main), les règles géométriques en déduisent un geste, une fonction unique d'actions pilote la scène Three.js. La souris et le clavier déclenchent les mêmes actions. Seul le chargement initial des bibliothèques et du modèle passe par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recommandations que l'IA a formulées sur l'architecture. Je suis d'accord avec cinq d'entre elles. Deux nuances : entraîner un classifieur n'a de sens que si le lissage ne suffit pas, et déporter la détection dans un Web Worker n'est utile que si l'affichage saccade. À ADAPTER avec mon propre avis avant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Priorités dans cet ordre : tester avec de vraies personnes et mesurer, fiabiliser les gestes, rendre le projet autonome et modulaire, puis enrichir. Un chantier à la fois, retesté après chaque changement, avec un critère de réussite chiffré.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centrale pour justifier l'audit. Dans les données, plusieurs formes avaient null comme rotation. En JavaScript, une valeur par défaut ne s'applique que pour undefined. Le code essayait de lire null[0] et plantait : seul l'avion s'affichait. Trouvé grâce à un test de construction des 10 objets hors navigateur. Leçon : le code généré par l'IA doit être testé et compris.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axes d'audit : comprendre le code, vérifier le fonctionnement, la qualité, la sécurité et la vie privée (onglet Réseau pour prouver qu'aucune image ne part, hébergement local des bibliothèques, politique CSP), l'exactitude du contenu et enfin la performance et l'accessibilité. Point de vue de l'IA : elle accélère la production, mais la fiabilité vient de la vérification humaine.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à retenir, puis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4023360" cy="210312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063240"/>
            <a:ext cx="3291840" cy="822960"/>
          </a:xfrm>
          <a:prstGeom prst="rect">
            <a:avLst/>
          </a:prstGeom>
          <a:noFill/>
          <a:ln/>
        </p:spPr>
        <p:txBody>
          <a:bodyPr wrap="square" rtlCol="0"/>
          <a:lstStyle>
            <a:lvl1pPr algn="l" indent="0" marL="0">
              <a:buNone/>
              <a:defRPr lang="en-US" sz="1200" dirty="0">
                <a:solidFill>
                  <a:schemeClr val="accent6"/>
                </a:solidFill>
                <a:latin typeface="Courier New" pitchFamily="34" charset="0"/>
                <a:ea typeface="Courier New" pitchFamily="34" charset="-122"/>
                <a:cs typeface="Courier New" pitchFamily="34" charset="-120"/>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P">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rtlCol="0"/>
          <a:lstStyle>
            <a:lvl1pPr algn="l"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algn="l" indent="0" marL="0">
              <a:buNone/>
            </a:pP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txBox="1"/>
          <p:nvPr/>
        </p:nvSpPr>
        <p:spPr>
          <a:xfrm>
            <a:off x="457200" y="4791456"/>
            <a:ext cx="4572000" cy="201168"/>
          </a:xfrm>
          <a:prstGeom prst="rect">
            <a:avLst/>
          </a:prstGeom>
          <a:noFill/>
          <a:ln/>
        </p:spPr>
        <p:txBody>
          <a:bodyPr wrap="square" lIns="0" tIns="0" rIns="0" bIns="0" rtlCol="0" anchor="ctr"/>
          <a:lstStyle/>
          <a:p>
            <a:pPr indent="0" marL="0">
              <a:buNone/>
            </a:pPr>
            <a:r>
              <a:rPr lang="en-US" sz="1000" dirty="0">
                <a:solidFill>
                  <a:schemeClr val="accent2"/>
                </a:solidFill>
                <a:latin typeface="Courier New" pitchFamily="34" charset="0"/>
                <a:ea typeface="Courier New" pitchFamily="34" charset="-122"/>
                <a:cs typeface="Courier New" pitchFamily="34" charset="-120"/>
              </a:rPr>
              <a:t>ATELIER 3D · PILOTÉ PAR LA MAIN</a:t>
            </a:r>
            <a:endParaRPr lang="en-US" sz="10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OPRIGH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0" y="274320"/>
            <a:ext cx="3657600" cy="228600"/>
          </a:xfrm>
          <a:prstGeom prst="rect">
            <a:avLst/>
          </a:prstGeom>
          <a:noFill/>
          <a:ln/>
        </p:spPr>
        <p:txBody>
          <a:bodyPr wrap="square" rtlCol="0"/>
          <a:lstStyle>
            <a:lvl1pPr algn="r"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algn="r" indent="0" marL="0">
              <a:buNone/>
            </a:pPr>
            <a:endParaRPr lang="en-US" sz="1200" dirty="0"/>
          </a:p>
        </p:txBody>
      </p:sp>
      <p:sp>
        <p:nvSpPr>
          <p:cNvPr id="3" name="Text 0"/>
          <p:cNvSpPr/>
          <p:nvPr>
            <p:ph idx="101" type="title" hasCustomPrompt="1"/>
          </p:nvPr>
        </p:nvSpPr>
        <p:spPr>
          <a:xfrm>
            <a:off x="5029200" y="530352"/>
            <a:ext cx="3657600" cy="1097280"/>
          </a:xfrm>
          <a:prstGeom prst="rect">
            <a:avLst/>
          </a:prstGeom>
          <a:noFill/>
          <a:ln/>
        </p:spPr>
        <p:txBody>
          <a:bodyPr wrap="square" rtlCol="0"/>
          <a:lstStyle>
            <a:lvl1pPr algn="r" indent="0" marL="0">
              <a:buNone/>
              <a:defRPr lang="en-US" sz="4000" b="1" dirty="0">
                <a:solidFill>
                  <a:schemeClr val="bg1"/>
                </a:solidFill>
              </a:defRPr>
            </a:lvl1pPr>
          </a:lstStyle>
          <a:p>
            <a:pPr algn="r" indent="0" marL="0">
              <a:buNone/>
            </a:pPr>
            <a:endParaRPr lang="en-US" sz="4000" dirty="0"/>
          </a:p>
        </p:txBody>
      </p:sp>
      <p:sp>
        <p:nvSpPr>
          <p:cNvPr id="4" name="Text 0"/>
          <p:cNvSpPr txBox="1"/>
          <p:nvPr/>
        </p:nvSpPr>
        <p:spPr>
          <a:xfrm>
            <a:off x="457200" y="4791456"/>
            <a:ext cx="4572000" cy="201168"/>
          </a:xfrm>
          <a:prstGeom prst="rect">
            <a:avLst/>
          </a:prstGeom>
          <a:noFill/>
          <a:ln/>
        </p:spPr>
        <p:txBody>
          <a:bodyPr wrap="square" lIns="0" tIns="0" rIns="0" bIns="0" rtlCol="0" anchor="ctr"/>
          <a:lstStyle/>
          <a:p>
            <a:pPr indent="0" marL="0">
              <a:buNone/>
            </a:pPr>
            <a:r>
              <a:rPr lang="en-US" sz="1000" dirty="0">
                <a:solidFill>
                  <a:schemeClr val="accent2"/>
                </a:solidFill>
                <a:latin typeface="Courier New" pitchFamily="34" charset="0"/>
                <a:ea typeface="Courier New" pitchFamily="34" charset="-122"/>
                <a:cs typeface="Courier New" pitchFamily="34" charset="-120"/>
              </a:rPr>
              <a:t>ATELIER 3D · PILOTÉ PAR LA MAIN</a:t>
            </a:r>
            <a:endParaRPr lang="en-US" sz="10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7.jpg"/><Relationship Id="rId8" Type="http://schemas.openxmlformats.org/officeDocument/2006/relationships/image" Target="../media/image-4-8.jpg"/><Relationship Id="rId9" Type="http://schemas.openxmlformats.org/officeDocument/2006/relationships/image" Target="../media/image-4-9.jpg"/><Relationship Id="rId10" Type="http://schemas.openxmlformats.org/officeDocument/2006/relationships/image" Target="../media/image-4-10.jp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053c1737-0915-558c-9e1b-4dff4915d402/scratchpad/assets/hero_avion.jp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ph idx="100" type="title" hasCustomPrompt="1"/>
          </p:nvPr>
        </p:nvSpPr>
        <p:spPr>
          <a:xfrm>
            <a:off x="548640" y="777240"/>
            <a:ext cx="4023360" cy="2103120"/>
          </a:xfrm>
          <a:prstGeom prst="rect">
            <a:avLst/>
          </a:prstGeom>
          <a:noFill/>
          <a:ln/>
        </p:spPr>
        <p:txBody>
          <a:bodyPr wrap="square" lIns="0" tIns="0" rIns="0" bIns="0" rtlCol="0" anchor="t"/>
          <a:lstStyle/>
          <a:p>
            <a:pPr algn="l" indent="0" marL="0">
              <a:buNone/>
            </a:pPr>
            <a:r>
              <a:rPr lang="en-US" sz="4600" b="1" dirty="0">
                <a:solidFill>
                  <a:schemeClr val="bg1"/>
                </a:solidFill>
              </a:rPr>
              <a:t>Atelier 3D</a:t>
            </a:r>
            <a:endParaRPr lang="en-US" sz="4600" dirty="0"/>
          </a:p>
          <a:p>
            <a:pPr algn="l" indent="0" marL="0">
              <a:buNone/>
            </a:pPr>
            <a:r>
              <a:rPr lang="en-US" sz="4600" b="1" dirty="0">
                <a:solidFill>
                  <a:schemeClr val="bg1"/>
                </a:solidFill>
              </a:rPr>
              <a:t>piloté</a:t>
            </a:r>
            <a:endParaRPr lang="en-US" sz="4600" dirty="0"/>
          </a:p>
          <a:p>
            <a:pPr algn="l" indent="0" marL="0">
              <a:buNone/>
            </a:pPr>
            <a:r>
              <a:rPr lang="en-US" sz="4600" b="1" dirty="0">
                <a:solidFill>
                  <a:schemeClr val="bg1"/>
                </a:solidFill>
              </a:rPr>
              <a:t>par la main</a:t>
            </a:r>
            <a:endParaRPr lang="en-US" sz="4600" dirty="0"/>
          </a:p>
        </p:txBody>
      </p:sp>
      <p:sp>
        <p:nvSpPr>
          <p:cNvPr id="4" name="Text 0"/>
          <p:cNvSpPr/>
          <p:nvPr>
            <p:ph idx="101" type="body" hasCustomPrompt="1"/>
          </p:nvPr>
        </p:nvSpPr>
        <p:spPr>
          <a:xfrm>
            <a:off x="548640" y="3063240"/>
            <a:ext cx="3291840" cy="822960"/>
          </a:xfrm>
          <a:prstGeom prst="rect">
            <a:avLst/>
          </a:prstGeom>
          <a:noFill/>
          <a:ln/>
        </p:spPr>
        <p:txBody>
          <a:bodyPr wrap="square" lIns="0" tIns="0" rIns="0" bIns="0" rtlCol="0" anchor="t"/>
          <a:lstStyle/>
          <a:p>
            <a:pPr algn="l" indent="0" marL="0">
              <a:buNone/>
            </a:pPr>
            <a:r>
              <a:rPr lang="en-US" sz="1200" dirty="0">
                <a:solidFill>
                  <a:schemeClr val="accent6"/>
                </a:solidFill>
                <a:latin typeface="Courier New" pitchFamily="34" charset="0"/>
                <a:ea typeface="Courier New" pitchFamily="34" charset="-122"/>
                <a:cs typeface="Courier New" pitchFamily="34" charset="-120"/>
              </a:rPr>
              <a:t>EXPLORER 10 ÉQUIPEMENTS EN 3D, SANS SOURIS NI CLAVIER</a:t>
            </a:r>
            <a:endParaRPr lang="en-US" sz="1200" dirty="0"/>
          </a:p>
        </p:txBody>
      </p:sp>
      <p:sp>
        <p:nvSpPr>
          <p:cNvPr id="5" name="Text 2"/>
          <p:cNvSpPr txBox="1"/>
          <p:nvPr/>
        </p:nvSpPr>
        <p:spPr>
          <a:xfrm>
            <a:off x="548640" y="4572000"/>
            <a:ext cx="5486400" cy="201168"/>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M. KENNETH · ESEO VÉLIZY · CYBERSÉCURITÉ &amp; IA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PLAN</a:t>
            </a: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Six questions</a:t>
            </a:r>
            <a:endParaRPr lang="en-US" sz="4000" dirty="0"/>
          </a:p>
        </p:txBody>
      </p:sp>
      <p:sp>
        <p:nvSpPr>
          <p:cNvPr id="4" name="Text 2"/>
          <p:cNvSpPr txBox="1"/>
          <p:nvPr/>
        </p:nvSpPr>
        <p:spPr>
          <a:xfrm>
            <a:off x="457200" y="141732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01</a:t>
            </a:r>
            <a:endParaRPr lang="en-US" sz="5400" dirty="0"/>
          </a:p>
        </p:txBody>
      </p:sp>
      <p:sp>
        <p:nvSpPr>
          <p:cNvPr id="5" name="Text 3"/>
          <p:cNvSpPr txBox="1"/>
          <p:nvPr/>
        </p:nvSpPr>
        <p:spPr>
          <a:xfrm>
            <a:off x="1645920" y="1554480"/>
            <a:ext cx="2743200" cy="365760"/>
          </a:xfrm>
          <a:prstGeom prst="rect">
            <a:avLst/>
          </a:prstGeom>
          <a:noFill/>
          <a:ln/>
        </p:spPr>
        <p:txBody>
          <a:bodyPr wrap="square" lIns="0" tIns="0" rIns="0" bIns="0" rtlCol="0" anchor="t"/>
          <a:lstStyle/>
          <a:p>
            <a:pPr indent="0" marL="0">
              <a:buNone/>
            </a:pPr>
            <a:r>
              <a:rPr lang="en-US" sz="2200" b="1" dirty="0">
                <a:solidFill>
                  <a:schemeClr val="bg1"/>
                </a:solidFill>
              </a:rPr>
              <a:t>Le projet</a:t>
            </a:r>
            <a:endParaRPr lang="en-US" sz="2200" dirty="0"/>
          </a:p>
        </p:txBody>
      </p:sp>
      <p:sp>
        <p:nvSpPr>
          <p:cNvPr id="6" name="Text 4"/>
          <p:cNvSpPr txBox="1"/>
          <p:nvPr/>
        </p:nvSpPr>
        <p:spPr>
          <a:xfrm>
            <a:off x="1645920" y="1965960"/>
            <a:ext cx="2743200" cy="22860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PROBLÈME ET FONCTIONNALITÉS</a:t>
            </a:r>
            <a:endParaRPr lang="en-US" sz="1000" dirty="0"/>
          </a:p>
        </p:txBody>
      </p:sp>
      <p:sp>
        <p:nvSpPr>
          <p:cNvPr id="7" name="Text 5"/>
          <p:cNvSpPr txBox="1"/>
          <p:nvPr/>
        </p:nvSpPr>
        <p:spPr>
          <a:xfrm>
            <a:off x="457200" y="246888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02</a:t>
            </a:r>
            <a:endParaRPr lang="en-US" sz="5400" dirty="0"/>
          </a:p>
        </p:txBody>
      </p:sp>
      <p:sp>
        <p:nvSpPr>
          <p:cNvPr id="8" name="Text 6"/>
          <p:cNvSpPr txBox="1"/>
          <p:nvPr/>
        </p:nvSpPr>
        <p:spPr>
          <a:xfrm>
            <a:off x="1645920" y="2606040"/>
            <a:ext cx="2743200" cy="365760"/>
          </a:xfrm>
          <a:prstGeom prst="rect">
            <a:avLst/>
          </a:prstGeom>
          <a:noFill/>
          <a:ln/>
        </p:spPr>
        <p:txBody>
          <a:bodyPr wrap="square" lIns="0" tIns="0" rIns="0" bIns="0" rtlCol="0" anchor="t"/>
          <a:lstStyle/>
          <a:p>
            <a:pPr indent="0" marL="0">
              <a:buNone/>
            </a:pPr>
            <a:r>
              <a:rPr lang="en-US" sz="2200" b="1" dirty="0">
                <a:solidFill>
                  <a:schemeClr val="bg1"/>
                </a:solidFill>
              </a:rPr>
              <a:t>La démo</a:t>
            </a:r>
            <a:endParaRPr lang="en-US" sz="2200" dirty="0"/>
          </a:p>
        </p:txBody>
      </p:sp>
      <p:sp>
        <p:nvSpPr>
          <p:cNvPr id="9" name="Text 7"/>
          <p:cNvSpPr txBox="1"/>
          <p:nvPr/>
        </p:nvSpPr>
        <p:spPr>
          <a:xfrm>
            <a:off x="1645920" y="3017520"/>
            <a:ext cx="2743200" cy="22860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2 MINUTES EN DIRECT</a:t>
            </a:r>
            <a:endParaRPr lang="en-US" sz="1000" dirty="0"/>
          </a:p>
        </p:txBody>
      </p:sp>
      <p:sp>
        <p:nvSpPr>
          <p:cNvPr id="10" name="Text 8"/>
          <p:cNvSpPr txBox="1"/>
          <p:nvPr/>
        </p:nvSpPr>
        <p:spPr>
          <a:xfrm>
            <a:off x="457200" y="352044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03</a:t>
            </a:r>
            <a:endParaRPr lang="en-US" sz="5400" dirty="0"/>
          </a:p>
        </p:txBody>
      </p:sp>
      <p:sp>
        <p:nvSpPr>
          <p:cNvPr id="11" name="Text 9"/>
          <p:cNvSpPr txBox="1"/>
          <p:nvPr/>
        </p:nvSpPr>
        <p:spPr>
          <a:xfrm>
            <a:off x="1645920" y="3657600"/>
            <a:ext cx="2743200" cy="365760"/>
          </a:xfrm>
          <a:prstGeom prst="rect">
            <a:avLst/>
          </a:prstGeom>
          <a:noFill/>
          <a:ln/>
        </p:spPr>
        <p:txBody>
          <a:bodyPr wrap="square" lIns="0" tIns="0" rIns="0" bIns="0" rtlCol="0" anchor="t"/>
          <a:lstStyle/>
          <a:p>
            <a:pPr indent="0" marL="0">
              <a:buNone/>
            </a:pPr>
            <a:r>
              <a:rPr lang="en-US" sz="2200" b="1" dirty="0">
                <a:solidFill>
                  <a:schemeClr val="bg1"/>
                </a:solidFill>
              </a:rPr>
              <a:t>L'architecture</a:t>
            </a:r>
            <a:endParaRPr lang="en-US" sz="2200" dirty="0"/>
          </a:p>
        </p:txBody>
      </p:sp>
      <p:sp>
        <p:nvSpPr>
          <p:cNvPr id="12" name="Text 10"/>
          <p:cNvSpPr txBox="1"/>
          <p:nvPr/>
        </p:nvSpPr>
        <p:spPr>
          <a:xfrm>
            <a:off x="1645920" y="4069080"/>
            <a:ext cx="2743200" cy="22860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COMPOSANTS ET FLUX</a:t>
            </a:r>
            <a:endParaRPr lang="en-US" sz="1000" dirty="0"/>
          </a:p>
        </p:txBody>
      </p:sp>
      <p:sp>
        <p:nvSpPr>
          <p:cNvPr id="13" name="Text 11"/>
          <p:cNvSpPr txBox="1"/>
          <p:nvPr/>
        </p:nvSpPr>
        <p:spPr>
          <a:xfrm>
            <a:off x="4754880" y="141732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04</a:t>
            </a:r>
            <a:endParaRPr lang="en-US" sz="5400" dirty="0"/>
          </a:p>
        </p:txBody>
      </p:sp>
      <p:sp>
        <p:nvSpPr>
          <p:cNvPr id="14" name="Text 12"/>
          <p:cNvSpPr txBox="1"/>
          <p:nvPr/>
        </p:nvSpPr>
        <p:spPr>
          <a:xfrm>
            <a:off x="5943600" y="1554480"/>
            <a:ext cx="2743200" cy="365760"/>
          </a:xfrm>
          <a:prstGeom prst="rect">
            <a:avLst/>
          </a:prstGeom>
          <a:noFill/>
          <a:ln/>
        </p:spPr>
        <p:txBody>
          <a:bodyPr wrap="square" lIns="0" tIns="0" rIns="0" bIns="0" rtlCol="0" anchor="t"/>
          <a:lstStyle/>
          <a:p>
            <a:pPr indent="0" marL="0">
              <a:buNone/>
            </a:pPr>
            <a:r>
              <a:rPr lang="en-US" sz="2200" b="1" dirty="0">
                <a:solidFill>
                  <a:schemeClr val="bg1"/>
                </a:solidFill>
              </a:rPr>
              <a:t>L'analyse critique</a:t>
            </a:r>
            <a:endParaRPr lang="en-US" sz="2200" dirty="0"/>
          </a:p>
        </p:txBody>
      </p:sp>
      <p:sp>
        <p:nvSpPr>
          <p:cNvPr id="15" name="Text 13"/>
          <p:cNvSpPr txBox="1"/>
          <p:nvPr/>
        </p:nvSpPr>
        <p:spPr>
          <a:xfrm>
            <a:off x="5943600" y="1965960"/>
            <a:ext cx="2743200" cy="22860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CE QUE L'IA RECOMMANDE</a:t>
            </a:r>
            <a:endParaRPr lang="en-US" sz="1000" dirty="0"/>
          </a:p>
        </p:txBody>
      </p:sp>
      <p:sp>
        <p:nvSpPr>
          <p:cNvPr id="16" name="Text 14"/>
          <p:cNvSpPr txBox="1"/>
          <p:nvPr/>
        </p:nvSpPr>
        <p:spPr>
          <a:xfrm>
            <a:off x="4754880" y="246888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05</a:t>
            </a:r>
            <a:endParaRPr lang="en-US" sz="5400" dirty="0"/>
          </a:p>
        </p:txBody>
      </p:sp>
      <p:sp>
        <p:nvSpPr>
          <p:cNvPr id="17" name="Text 15"/>
          <p:cNvSpPr txBox="1"/>
          <p:nvPr/>
        </p:nvSpPr>
        <p:spPr>
          <a:xfrm>
            <a:off x="5943600" y="2606040"/>
            <a:ext cx="2743200" cy="365760"/>
          </a:xfrm>
          <a:prstGeom prst="rect">
            <a:avLst/>
          </a:prstGeom>
          <a:noFill/>
          <a:ln/>
        </p:spPr>
        <p:txBody>
          <a:bodyPr wrap="square" lIns="0" tIns="0" rIns="0" bIns="0" rtlCol="0" anchor="t"/>
          <a:lstStyle/>
          <a:p>
            <a:pPr indent="0" marL="0">
              <a:buNone/>
            </a:pPr>
            <a:r>
              <a:rPr lang="en-US" sz="2200" b="1" dirty="0">
                <a:solidFill>
                  <a:schemeClr val="bg1"/>
                </a:solidFill>
              </a:rPr>
              <a:t>Les perspectives</a:t>
            </a:r>
            <a:endParaRPr lang="en-US" sz="2200" dirty="0"/>
          </a:p>
        </p:txBody>
      </p:sp>
      <p:sp>
        <p:nvSpPr>
          <p:cNvPr id="18" name="Text 16"/>
          <p:cNvSpPr txBox="1"/>
          <p:nvPr/>
        </p:nvSpPr>
        <p:spPr>
          <a:xfrm>
            <a:off x="5943600" y="3017520"/>
            <a:ext cx="2743200" cy="22860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CE QU'IL RESTE À FAIRE</a:t>
            </a:r>
            <a:endParaRPr lang="en-US" sz="1000" dirty="0"/>
          </a:p>
        </p:txBody>
      </p:sp>
      <p:sp>
        <p:nvSpPr>
          <p:cNvPr id="19" name="Text 17"/>
          <p:cNvSpPr txBox="1"/>
          <p:nvPr/>
        </p:nvSpPr>
        <p:spPr>
          <a:xfrm>
            <a:off x="4754880" y="3520440"/>
            <a:ext cx="1097280" cy="822960"/>
          </a:xfrm>
          <a:prstGeom prst="rect">
            <a:avLst/>
          </a:prstGeom>
          <a:noFill/>
          <a:ln/>
        </p:spPr>
        <p:txBody>
          <a:bodyPr wrap="square" lIns="0" tIns="0" rIns="0" bIns="0" rtlCol="0" anchor="ctr"/>
          <a:lstStyle/>
          <a:p>
            <a:pPr indent="0" marL="0">
              <a:buNone/>
            </a:pPr>
            <a:r>
              <a:rPr lang="en-US" sz="5400" b="1" dirty="0">
                <a:solidFill>
                  <a:schemeClr val="accent1"/>
                </a:solidFill>
              </a:rPr>
              <a:t>06</a:t>
            </a:r>
            <a:endParaRPr lang="en-US" sz="5400" dirty="0"/>
          </a:p>
        </p:txBody>
      </p:sp>
      <p:sp>
        <p:nvSpPr>
          <p:cNvPr id="20" name="Text 18"/>
          <p:cNvSpPr txBox="1"/>
          <p:nvPr/>
        </p:nvSpPr>
        <p:spPr>
          <a:xfrm>
            <a:off x="5943600" y="3657600"/>
            <a:ext cx="2743200" cy="365760"/>
          </a:xfrm>
          <a:prstGeom prst="rect">
            <a:avLst/>
          </a:prstGeom>
          <a:noFill/>
          <a:ln/>
        </p:spPr>
        <p:txBody>
          <a:bodyPr wrap="square" lIns="0" tIns="0" rIns="0" bIns="0" rtlCol="0" anchor="t"/>
          <a:lstStyle/>
          <a:p>
            <a:pPr indent="0" marL="0">
              <a:buNone/>
            </a:pPr>
            <a:r>
              <a:rPr lang="en-US" sz="2200" b="1" dirty="0">
                <a:solidFill>
                  <a:schemeClr val="bg1"/>
                </a:solidFill>
              </a:rPr>
              <a:t>L'audit du code</a:t>
            </a:r>
            <a:endParaRPr lang="en-US" sz="2200" dirty="0"/>
          </a:p>
        </p:txBody>
      </p:sp>
      <p:sp>
        <p:nvSpPr>
          <p:cNvPr id="21" name="Text 19"/>
          <p:cNvSpPr txBox="1"/>
          <p:nvPr/>
        </p:nvSpPr>
        <p:spPr>
          <a:xfrm>
            <a:off x="5943600" y="4069080"/>
            <a:ext cx="2743200" cy="22860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COMPRENDRE ET VÉRIFIER</a:t>
            </a:r>
            <a:endParaRPr lang="en-US" sz="10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claude-0/-home-claude/053c1737-0915-558c-9e1b-4dff4915d402/scratchpad/assets/irm_hero.jp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01 · LE PROJET</a:t>
            </a:r>
            <a:endParaRPr lang="en-US" sz="1200" dirty="0"/>
          </a:p>
        </p:txBody>
      </p:sp>
      <p:sp>
        <p:nvSpPr>
          <p:cNvPr id="4"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Toucher sans toucher</a:t>
            </a:r>
            <a:endParaRPr lang="en-US" sz="4000" dirty="0"/>
          </a:p>
        </p:txBody>
      </p:sp>
      <p:sp>
        <p:nvSpPr>
          <p:cNvPr id="5" name="Text 2"/>
          <p:cNvSpPr txBox="1"/>
          <p:nvPr/>
        </p:nvSpPr>
        <p:spPr>
          <a:xfrm>
            <a:off x="457200" y="1371600"/>
            <a:ext cx="365760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PROBLÈME</a:t>
            </a:r>
            <a:endParaRPr lang="en-US" sz="1100" dirty="0"/>
          </a:p>
        </p:txBody>
      </p:sp>
      <p:sp>
        <p:nvSpPr>
          <p:cNvPr id="6" name="Text 3"/>
          <p:cNvSpPr txBox="1"/>
          <p:nvPr/>
        </p:nvSpPr>
        <p:spPr>
          <a:xfrm>
            <a:off x="457200" y="1609344"/>
            <a:ext cx="3749040" cy="786384"/>
          </a:xfrm>
          <a:prstGeom prst="rect">
            <a:avLst/>
          </a:prstGeom>
          <a:noFill/>
          <a:ln/>
        </p:spPr>
        <p:txBody>
          <a:bodyPr wrap="square" lIns="0" tIns="0" rIns="0" bIns="0" rtlCol="0" anchor="t"/>
          <a:lstStyle/>
          <a:p>
            <a:pPr indent="0" marL="0">
              <a:buNone/>
            </a:pPr>
            <a:r>
              <a:rPr lang="en-US" sz="1400" dirty="0">
                <a:solidFill>
                  <a:schemeClr val="bg1"/>
                </a:solidFill>
              </a:rPr>
              <a:t>Schémas figés ou CAO lourde, toujours à la souris. Et parfois, impossible de toucher : bloc, atelier, mains occupées.</a:t>
            </a:r>
            <a:endParaRPr lang="en-US" sz="1400" dirty="0"/>
          </a:p>
        </p:txBody>
      </p:sp>
      <p:sp>
        <p:nvSpPr>
          <p:cNvPr id="7" name="Text 4"/>
          <p:cNvSpPr txBox="1"/>
          <p:nvPr/>
        </p:nvSpPr>
        <p:spPr>
          <a:xfrm>
            <a:off x="457200" y="2395728"/>
            <a:ext cx="365760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SOLUTION</a:t>
            </a:r>
            <a:endParaRPr lang="en-US" sz="1100" dirty="0"/>
          </a:p>
        </p:txBody>
      </p:sp>
      <p:sp>
        <p:nvSpPr>
          <p:cNvPr id="8" name="Text 5"/>
          <p:cNvSpPr txBox="1"/>
          <p:nvPr/>
        </p:nvSpPr>
        <p:spPr>
          <a:xfrm>
            <a:off x="457200" y="2633472"/>
            <a:ext cx="3749040" cy="566928"/>
          </a:xfrm>
          <a:prstGeom prst="rect">
            <a:avLst/>
          </a:prstGeom>
          <a:noFill/>
          <a:ln/>
        </p:spPr>
        <p:txBody>
          <a:bodyPr wrap="square" lIns="0" tIns="0" rIns="0" bIns="0" rtlCol="0" anchor="t"/>
          <a:lstStyle/>
          <a:p>
            <a:pPr indent="0" marL="0">
              <a:buNone/>
            </a:pPr>
            <a:r>
              <a:rPr lang="en-US" sz="1400" dirty="0">
                <a:solidFill>
                  <a:schemeClr val="bg1"/>
                </a:solidFill>
              </a:rPr>
              <a:t>Une webcam suffit : on tourne, on éclate et on ouvre les pièces d'un objet 3D avec la main.</a:t>
            </a:r>
            <a:endParaRPr lang="en-US" sz="1400" dirty="0"/>
          </a:p>
        </p:txBody>
      </p:sp>
      <p:sp>
        <p:nvSpPr>
          <p:cNvPr id="9" name="Text 6"/>
          <p:cNvSpPr txBox="1"/>
          <p:nvPr/>
        </p:nvSpPr>
        <p:spPr>
          <a:xfrm>
            <a:off x="457200" y="3200400"/>
            <a:ext cx="365760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PUBLIC</a:t>
            </a:r>
            <a:endParaRPr lang="en-US" sz="1100" dirty="0"/>
          </a:p>
        </p:txBody>
      </p:sp>
      <p:sp>
        <p:nvSpPr>
          <p:cNvPr id="10" name="Text 7"/>
          <p:cNvSpPr txBox="1"/>
          <p:nvPr/>
        </p:nvSpPr>
        <p:spPr>
          <a:xfrm>
            <a:off x="457200" y="3438144"/>
            <a:ext cx="3749040" cy="493776"/>
          </a:xfrm>
          <a:prstGeom prst="rect">
            <a:avLst/>
          </a:prstGeom>
          <a:noFill/>
          <a:ln/>
        </p:spPr>
        <p:txBody>
          <a:bodyPr wrap="square" lIns="0" tIns="0" rIns="0" bIns="0" rtlCol="0" anchor="t"/>
          <a:lstStyle/>
          <a:p>
            <a:pPr indent="0" marL="0">
              <a:buNone/>
            </a:pPr>
            <a:r>
              <a:rPr lang="en-US" sz="1400" dirty="0">
                <a:solidFill>
                  <a:schemeClr val="bg1"/>
                </a:solidFill>
              </a:rPr>
              <a:t>Étudiants et techniciens, avec un accent sur le biomédical.</a:t>
            </a:r>
            <a:endParaRPr lang="en-US" sz="1400" dirty="0"/>
          </a:p>
        </p:txBody>
      </p:sp>
      <p:sp>
        <p:nvSpPr>
          <p:cNvPr id="11" name="Text 8"/>
          <p:cNvSpPr txBox="1"/>
          <p:nvPr/>
        </p:nvSpPr>
        <p:spPr>
          <a:xfrm>
            <a:off x="457200" y="4023360"/>
            <a:ext cx="1188720" cy="502920"/>
          </a:xfrm>
          <a:prstGeom prst="rect">
            <a:avLst/>
          </a:prstGeom>
          <a:noFill/>
          <a:ln/>
        </p:spPr>
        <p:txBody>
          <a:bodyPr wrap="square" lIns="0" tIns="0" rIns="0" bIns="0" rtlCol="0" anchor="ctr"/>
          <a:lstStyle/>
          <a:p>
            <a:pPr indent="0" marL="0">
              <a:buNone/>
            </a:pPr>
            <a:r>
              <a:rPr lang="en-US" sz="4000" b="1" dirty="0">
                <a:solidFill>
                  <a:schemeClr val="accent1"/>
                </a:solidFill>
              </a:rPr>
              <a:t>10</a:t>
            </a:r>
            <a:endParaRPr lang="en-US" sz="4000" dirty="0"/>
          </a:p>
        </p:txBody>
      </p:sp>
      <p:sp>
        <p:nvSpPr>
          <p:cNvPr id="12" name="Text 9"/>
          <p:cNvSpPr txBox="1"/>
          <p:nvPr/>
        </p:nvSpPr>
        <p:spPr>
          <a:xfrm>
            <a:off x="457200" y="4544568"/>
            <a:ext cx="128016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ÉQUIPEMENTS</a:t>
            </a:r>
            <a:endParaRPr lang="en-US" sz="1000" dirty="0"/>
          </a:p>
        </p:txBody>
      </p:sp>
      <p:sp>
        <p:nvSpPr>
          <p:cNvPr id="13" name="Text 10"/>
          <p:cNvSpPr txBox="1"/>
          <p:nvPr/>
        </p:nvSpPr>
        <p:spPr>
          <a:xfrm>
            <a:off x="1783080" y="4023360"/>
            <a:ext cx="1188720" cy="502920"/>
          </a:xfrm>
          <a:prstGeom prst="rect">
            <a:avLst/>
          </a:prstGeom>
          <a:noFill/>
          <a:ln/>
        </p:spPr>
        <p:txBody>
          <a:bodyPr wrap="square" lIns="0" tIns="0" rIns="0" bIns="0" rtlCol="0" anchor="ctr"/>
          <a:lstStyle/>
          <a:p>
            <a:pPr indent="0" marL="0">
              <a:buNone/>
            </a:pPr>
            <a:r>
              <a:rPr lang="en-US" sz="4000" b="1" dirty="0">
                <a:solidFill>
                  <a:schemeClr val="accent1"/>
                </a:solidFill>
              </a:rPr>
              <a:t>6</a:t>
            </a:r>
            <a:endParaRPr lang="en-US" sz="4000" dirty="0"/>
          </a:p>
        </p:txBody>
      </p:sp>
      <p:sp>
        <p:nvSpPr>
          <p:cNvPr id="14" name="Text 11"/>
          <p:cNvSpPr txBox="1"/>
          <p:nvPr/>
        </p:nvSpPr>
        <p:spPr>
          <a:xfrm>
            <a:off x="1783080" y="4544568"/>
            <a:ext cx="128016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GESTES</a:t>
            </a:r>
            <a:endParaRPr lang="en-US" sz="1000" dirty="0"/>
          </a:p>
        </p:txBody>
      </p:sp>
      <p:sp>
        <p:nvSpPr>
          <p:cNvPr id="15" name="Text 12"/>
          <p:cNvSpPr txBox="1"/>
          <p:nvPr/>
        </p:nvSpPr>
        <p:spPr>
          <a:xfrm>
            <a:off x="3108960" y="4023360"/>
            <a:ext cx="1188720" cy="502920"/>
          </a:xfrm>
          <a:prstGeom prst="rect">
            <a:avLst/>
          </a:prstGeom>
          <a:noFill/>
          <a:ln/>
        </p:spPr>
        <p:txBody>
          <a:bodyPr wrap="square" lIns="0" tIns="0" rIns="0" bIns="0" rtlCol="0" anchor="ctr"/>
          <a:lstStyle/>
          <a:p>
            <a:pPr indent="0" marL="0">
              <a:buNone/>
            </a:pPr>
            <a:r>
              <a:rPr lang="en-US" sz="4000" b="1" dirty="0">
                <a:solidFill>
                  <a:schemeClr val="accent1"/>
                </a:solidFill>
              </a:rPr>
              <a:t>0</a:t>
            </a:r>
            <a:endParaRPr lang="en-US" sz="4000" dirty="0"/>
          </a:p>
        </p:txBody>
      </p:sp>
      <p:sp>
        <p:nvSpPr>
          <p:cNvPr id="16" name="Text 13"/>
          <p:cNvSpPr txBox="1"/>
          <p:nvPr/>
        </p:nvSpPr>
        <p:spPr>
          <a:xfrm>
            <a:off x="3108960" y="4544568"/>
            <a:ext cx="128016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IMAGE ENVOYÉE</a:t>
            </a:r>
            <a:endParaRPr lang="en-US" sz="10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01 · FONCTIONNALITÉS</a:t>
            </a: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Dix équipements</a:t>
            </a:r>
            <a:endParaRPr lang="en-US" sz="4000" dirty="0"/>
          </a:p>
        </p:txBody>
      </p:sp>
      <p:pic>
        <p:nvPicPr>
          <p:cNvPr id="4" name="Image 0" descr="/tmp/claude-0/-home-claude/053c1737-0915-558c-9e1b-4dff4915d402/scratchpad/assets/tile_01.jpg">    </p:cNvPr>
          <p:cNvPicPr>
            <a:picLocks noChangeAspect="1"/>
          </p:cNvPicPr>
          <p:nvPr/>
        </p:nvPicPr>
        <p:blipFill>
          <a:blip r:embed="rId1"/>
          <a:stretch>
            <a:fillRect/>
          </a:stretch>
        </p:blipFill>
        <p:spPr>
          <a:xfrm>
            <a:off x="457200" y="1280160"/>
            <a:ext cx="1645920" cy="1234440"/>
          </a:xfrm>
          <a:prstGeom prst="rect">
            <a:avLst/>
          </a:prstGeom>
        </p:spPr>
      </p:pic>
      <p:sp>
        <p:nvSpPr>
          <p:cNvPr id="5" name="Text 2"/>
          <p:cNvSpPr txBox="1"/>
          <p:nvPr/>
        </p:nvSpPr>
        <p:spPr>
          <a:xfrm>
            <a:off x="548640" y="2523744"/>
            <a:ext cx="1554480" cy="201168"/>
          </a:xfrm>
          <a:prstGeom prst="rect">
            <a:avLst/>
          </a:prstGeom>
          <a:noFill/>
          <a:ln/>
        </p:spPr>
        <p:txBody>
          <a:bodyPr wrap="square" lIns="0" tIns="0" rIns="0" bIns="0" rtlCol="0" anchor="t"/>
          <a:lstStyle/>
          <a:p>
            <a:pPr indent="0" marL="0">
              <a:buNone/>
            </a:pPr>
            <a:r>
              <a:rPr lang="en-US" sz="1000" b="1" dirty="0">
                <a:solidFill>
                  <a:schemeClr val="bg1"/>
                </a:solidFill>
                <a:latin typeface="Courier New" pitchFamily="34" charset="0"/>
                <a:ea typeface="Courier New" pitchFamily="34" charset="-122"/>
                <a:cs typeface="Courier New" pitchFamily="34" charset="-120"/>
              </a:rPr>
              <a:t>01 AVION</a:t>
            </a:r>
            <a:endParaRPr lang="en-US" sz="1000" dirty="0"/>
          </a:p>
        </p:txBody>
      </p:sp>
      <p:pic>
        <p:nvPicPr>
          <p:cNvPr id="6" name="Image 1" descr="/tmp/claude-0/-home-claude/053c1737-0915-558c-9e1b-4dff4915d402/scratchpad/assets/tile_02.jpg">    </p:cNvPr>
          <p:cNvPicPr>
            <a:picLocks noChangeAspect="1"/>
          </p:cNvPicPr>
          <p:nvPr/>
        </p:nvPicPr>
        <p:blipFill>
          <a:blip r:embed="rId2"/>
          <a:stretch>
            <a:fillRect/>
          </a:stretch>
        </p:blipFill>
        <p:spPr>
          <a:xfrm>
            <a:off x="2103120" y="1280160"/>
            <a:ext cx="1645920" cy="1234440"/>
          </a:xfrm>
          <a:prstGeom prst="rect">
            <a:avLst/>
          </a:prstGeom>
        </p:spPr>
      </p:pic>
      <p:sp>
        <p:nvSpPr>
          <p:cNvPr id="7" name="Text 3"/>
          <p:cNvSpPr txBox="1"/>
          <p:nvPr/>
        </p:nvSpPr>
        <p:spPr>
          <a:xfrm>
            <a:off x="2194560" y="2523744"/>
            <a:ext cx="1554480" cy="201168"/>
          </a:xfrm>
          <a:prstGeom prst="rect">
            <a:avLst/>
          </a:prstGeom>
          <a:noFill/>
          <a:ln/>
        </p:spPr>
        <p:txBody>
          <a:bodyPr wrap="square" lIns="0" tIns="0" rIns="0" bIns="0" rtlCol="0" anchor="t"/>
          <a:lstStyle/>
          <a:p>
            <a:pPr indent="0" marL="0">
              <a:buNone/>
            </a:pPr>
            <a:r>
              <a:rPr lang="en-US" sz="1000" b="1" dirty="0">
                <a:solidFill>
                  <a:schemeClr val="bg1"/>
                </a:solidFill>
                <a:latin typeface="Courier New" pitchFamily="34" charset="0"/>
                <a:ea typeface="Courier New" pitchFamily="34" charset="-122"/>
                <a:cs typeface="Courier New" pitchFamily="34" charset="-120"/>
              </a:rPr>
              <a:t>02 VOITURE</a:t>
            </a:r>
            <a:endParaRPr lang="en-US" sz="1000" dirty="0"/>
          </a:p>
        </p:txBody>
      </p:sp>
      <p:pic>
        <p:nvPicPr>
          <p:cNvPr id="8" name="Image 2" descr="/tmp/claude-0/-home-claude/053c1737-0915-558c-9e1b-4dff4915d402/scratchpad/assets/tile_03.jpg">    </p:cNvPr>
          <p:cNvPicPr>
            <a:picLocks noChangeAspect="1"/>
          </p:cNvPicPr>
          <p:nvPr/>
        </p:nvPicPr>
        <p:blipFill>
          <a:blip r:embed="rId3"/>
          <a:stretch>
            <a:fillRect/>
          </a:stretch>
        </p:blipFill>
        <p:spPr>
          <a:xfrm>
            <a:off x="3749040" y="1280160"/>
            <a:ext cx="1645920" cy="1234440"/>
          </a:xfrm>
          <a:prstGeom prst="rect">
            <a:avLst/>
          </a:prstGeom>
        </p:spPr>
      </p:pic>
      <p:sp>
        <p:nvSpPr>
          <p:cNvPr id="9" name="Text 4"/>
          <p:cNvSpPr txBox="1"/>
          <p:nvPr/>
        </p:nvSpPr>
        <p:spPr>
          <a:xfrm>
            <a:off x="3840480" y="2523744"/>
            <a:ext cx="1554480" cy="201168"/>
          </a:xfrm>
          <a:prstGeom prst="rect">
            <a:avLst/>
          </a:prstGeom>
          <a:noFill/>
          <a:ln/>
        </p:spPr>
        <p:txBody>
          <a:bodyPr wrap="square" lIns="0" tIns="0" rIns="0" bIns="0" rtlCol="0" anchor="t"/>
          <a:lstStyle/>
          <a:p>
            <a:pPr indent="0" marL="0">
              <a:buNone/>
            </a:pPr>
            <a:r>
              <a:rPr lang="en-US" sz="1000" b="1" dirty="0">
                <a:solidFill>
                  <a:schemeClr val="bg1"/>
                </a:solidFill>
                <a:latin typeface="Courier New" pitchFamily="34" charset="0"/>
                <a:ea typeface="Courier New" pitchFamily="34" charset="-122"/>
                <a:cs typeface="Courier New" pitchFamily="34" charset="-120"/>
              </a:rPr>
              <a:t>03 FUSÉE</a:t>
            </a:r>
            <a:endParaRPr lang="en-US" sz="1000" dirty="0"/>
          </a:p>
        </p:txBody>
      </p:sp>
      <p:pic>
        <p:nvPicPr>
          <p:cNvPr id="10" name="Image 3" descr="/tmp/claude-0/-home-claude/053c1737-0915-558c-9e1b-4dff4915d402/scratchpad/assets/tile_04.jpg">    </p:cNvPr>
          <p:cNvPicPr>
            <a:picLocks noChangeAspect="1"/>
          </p:cNvPicPr>
          <p:nvPr/>
        </p:nvPicPr>
        <p:blipFill>
          <a:blip r:embed="rId4"/>
          <a:stretch>
            <a:fillRect/>
          </a:stretch>
        </p:blipFill>
        <p:spPr>
          <a:xfrm>
            <a:off x="5394960" y="1280160"/>
            <a:ext cx="1645920" cy="1234440"/>
          </a:xfrm>
          <a:prstGeom prst="rect">
            <a:avLst/>
          </a:prstGeom>
        </p:spPr>
      </p:pic>
      <p:sp>
        <p:nvSpPr>
          <p:cNvPr id="11" name="Text 5"/>
          <p:cNvSpPr txBox="1"/>
          <p:nvPr/>
        </p:nvSpPr>
        <p:spPr>
          <a:xfrm>
            <a:off x="5486400" y="2523744"/>
            <a:ext cx="1554480" cy="201168"/>
          </a:xfrm>
          <a:prstGeom prst="rect">
            <a:avLst/>
          </a:prstGeom>
          <a:noFill/>
          <a:ln/>
        </p:spPr>
        <p:txBody>
          <a:bodyPr wrap="square" lIns="0" tIns="0" rIns="0" bIns="0" rtlCol="0" anchor="t"/>
          <a:lstStyle/>
          <a:p>
            <a:pPr indent="0" marL="0">
              <a:buNone/>
            </a:pPr>
            <a:r>
              <a:rPr lang="en-US" sz="1000" b="1" dirty="0">
                <a:solidFill>
                  <a:schemeClr val="bg1"/>
                </a:solidFill>
                <a:latin typeface="Courier New" pitchFamily="34" charset="0"/>
                <a:ea typeface="Courier New" pitchFamily="34" charset="-122"/>
                <a:cs typeface="Courier New" pitchFamily="34" charset="-120"/>
              </a:rPr>
              <a:t>04 DRONE</a:t>
            </a:r>
            <a:endParaRPr lang="en-US" sz="1000" dirty="0"/>
          </a:p>
        </p:txBody>
      </p:sp>
      <p:pic>
        <p:nvPicPr>
          <p:cNvPr id="12" name="Image 4" descr="/tmp/claude-0/-home-claude/053c1737-0915-558c-9e1b-4dff4915d402/scratchpad/assets/tile_05.jpg">    </p:cNvPr>
          <p:cNvPicPr>
            <a:picLocks noChangeAspect="1"/>
          </p:cNvPicPr>
          <p:nvPr/>
        </p:nvPicPr>
        <p:blipFill>
          <a:blip r:embed="rId5"/>
          <a:stretch>
            <a:fillRect/>
          </a:stretch>
        </p:blipFill>
        <p:spPr>
          <a:xfrm>
            <a:off x="7040880" y="1280160"/>
            <a:ext cx="1645920" cy="1234440"/>
          </a:xfrm>
          <a:prstGeom prst="rect">
            <a:avLst/>
          </a:prstGeom>
        </p:spPr>
      </p:pic>
      <p:sp>
        <p:nvSpPr>
          <p:cNvPr id="13" name="Text 6"/>
          <p:cNvSpPr txBox="1"/>
          <p:nvPr/>
        </p:nvSpPr>
        <p:spPr>
          <a:xfrm>
            <a:off x="7132320" y="2523744"/>
            <a:ext cx="1554480" cy="201168"/>
          </a:xfrm>
          <a:prstGeom prst="rect">
            <a:avLst/>
          </a:prstGeom>
          <a:noFill/>
          <a:ln/>
        </p:spPr>
        <p:txBody>
          <a:bodyPr wrap="square" lIns="0" tIns="0" rIns="0" bIns="0" rtlCol="0" anchor="t"/>
          <a:lstStyle/>
          <a:p>
            <a:pPr indent="0" marL="0">
              <a:buNone/>
            </a:pPr>
            <a:r>
              <a:rPr lang="en-US" sz="1000" b="1" dirty="0">
                <a:solidFill>
                  <a:schemeClr val="bg1"/>
                </a:solidFill>
                <a:latin typeface="Courier New" pitchFamily="34" charset="0"/>
                <a:ea typeface="Courier New" pitchFamily="34" charset="-122"/>
                <a:cs typeface="Courier New" pitchFamily="34" charset="-120"/>
              </a:rPr>
              <a:t>05 SATELLITE</a:t>
            </a:r>
            <a:endParaRPr lang="en-US" sz="1000" dirty="0"/>
          </a:p>
        </p:txBody>
      </p:sp>
      <p:pic>
        <p:nvPicPr>
          <p:cNvPr id="14" name="Image 5" descr="/tmp/claude-0/-home-claude/053c1737-0915-558c-9e1b-4dff4915d402/scratchpad/assets/tile_06.jpg">    </p:cNvPr>
          <p:cNvPicPr>
            <a:picLocks noChangeAspect="1"/>
          </p:cNvPicPr>
          <p:nvPr/>
        </p:nvPicPr>
        <p:blipFill>
          <a:blip r:embed="rId6"/>
          <a:stretch>
            <a:fillRect/>
          </a:stretch>
        </p:blipFill>
        <p:spPr>
          <a:xfrm>
            <a:off x="457200" y="2880360"/>
            <a:ext cx="1645920" cy="1234440"/>
          </a:xfrm>
          <a:prstGeom prst="rect">
            <a:avLst/>
          </a:prstGeom>
        </p:spPr>
      </p:pic>
      <p:sp>
        <p:nvSpPr>
          <p:cNvPr id="15" name="Text 7"/>
          <p:cNvSpPr txBox="1"/>
          <p:nvPr/>
        </p:nvSpPr>
        <p:spPr>
          <a:xfrm>
            <a:off x="548640" y="4123944"/>
            <a:ext cx="1554480" cy="201168"/>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06 MONITEUR</a:t>
            </a:r>
            <a:endParaRPr lang="en-US" sz="1000" dirty="0"/>
          </a:p>
        </p:txBody>
      </p:sp>
      <p:pic>
        <p:nvPicPr>
          <p:cNvPr id="16" name="Image 6" descr="/tmp/claude-0/-home-claude/053c1737-0915-558c-9e1b-4dff4915d402/scratchpad/assets/tile_07.jpg">    </p:cNvPr>
          <p:cNvPicPr>
            <a:picLocks noChangeAspect="1"/>
          </p:cNvPicPr>
          <p:nvPr/>
        </p:nvPicPr>
        <p:blipFill>
          <a:blip r:embed="rId7"/>
          <a:stretch>
            <a:fillRect/>
          </a:stretch>
        </p:blipFill>
        <p:spPr>
          <a:xfrm>
            <a:off x="2103120" y="2880360"/>
            <a:ext cx="1645920" cy="1234440"/>
          </a:xfrm>
          <a:prstGeom prst="rect">
            <a:avLst/>
          </a:prstGeom>
        </p:spPr>
      </p:pic>
      <p:sp>
        <p:nvSpPr>
          <p:cNvPr id="17" name="Text 8"/>
          <p:cNvSpPr txBox="1"/>
          <p:nvPr/>
        </p:nvSpPr>
        <p:spPr>
          <a:xfrm>
            <a:off x="2194560" y="4123944"/>
            <a:ext cx="1554480" cy="201168"/>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07 PERFUSION</a:t>
            </a:r>
            <a:endParaRPr lang="en-US" sz="1000" dirty="0"/>
          </a:p>
        </p:txBody>
      </p:sp>
      <p:pic>
        <p:nvPicPr>
          <p:cNvPr id="18" name="Image 7" descr="/tmp/claude-0/-home-claude/053c1737-0915-558c-9e1b-4dff4915d402/scratchpad/assets/tile_08.jpg">    </p:cNvPr>
          <p:cNvPicPr>
            <a:picLocks noChangeAspect="1"/>
          </p:cNvPicPr>
          <p:nvPr/>
        </p:nvPicPr>
        <p:blipFill>
          <a:blip r:embed="rId8"/>
          <a:stretch>
            <a:fillRect/>
          </a:stretch>
        </p:blipFill>
        <p:spPr>
          <a:xfrm>
            <a:off x="3749040" y="2880360"/>
            <a:ext cx="1645920" cy="1234440"/>
          </a:xfrm>
          <a:prstGeom prst="rect">
            <a:avLst/>
          </a:prstGeom>
        </p:spPr>
      </p:pic>
      <p:sp>
        <p:nvSpPr>
          <p:cNvPr id="19" name="Text 9"/>
          <p:cNvSpPr txBox="1"/>
          <p:nvPr/>
        </p:nvSpPr>
        <p:spPr>
          <a:xfrm>
            <a:off x="3840480" y="4123944"/>
            <a:ext cx="1554480" cy="201168"/>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08 DÉFIBRILLATEUR</a:t>
            </a:r>
            <a:endParaRPr lang="en-US" sz="1000" dirty="0"/>
          </a:p>
        </p:txBody>
      </p:sp>
      <p:pic>
        <p:nvPicPr>
          <p:cNvPr id="20" name="Image 8" descr="/tmp/claude-0/-home-claude/053c1737-0915-558c-9e1b-4dff4915d402/scratchpad/assets/tile_09.jpg">    </p:cNvPr>
          <p:cNvPicPr>
            <a:picLocks noChangeAspect="1"/>
          </p:cNvPicPr>
          <p:nvPr/>
        </p:nvPicPr>
        <p:blipFill>
          <a:blip r:embed="rId9"/>
          <a:stretch>
            <a:fillRect/>
          </a:stretch>
        </p:blipFill>
        <p:spPr>
          <a:xfrm>
            <a:off x="5394960" y="2880360"/>
            <a:ext cx="1645920" cy="1234440"/>
          </a:xfrm>
          <a:prstGeom prst="rect">
            <a:avLst/>
          </a:prstGeom>
        </p:spPr>
      </p:pic>
      <p:sp>
        <p:nvSpPr>
          <p:cNvPr id="21" name="Text 10"/>
          <p:cNvSpPr txBox="1"/>
          <p:nvPr/>
        </p:nvSpPr>
        <p:spPr>
          <a:xfrm>
            <a:off x="5486400" y="4123944"/>
            <a:ext cx="1554480" cy="201168"/>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09 IRM</a:t>
            </a:r>
            <a:endParaRPr lang="en-US" sz="1000" dirty="0"/>
          </a:p>
        </p:txBody>
      </p:sp>
      <p:pic>
        <p:nvPicPr>
          <p:cNvPr id="22" name="Image 9" descr="/tmp/claude-0/-home-claude/053c1737-0915-558c-9e1b-4dff4915d402/scratchpad/assets/tile_10.jpg">    </p:cNvPr>
          <p:cNvPicPr>
            <a:picLocks noChangeAspect="1"/>
          </p:cNvPicPr>
          <p:nvPr/>
        </p:nvPicPr>
        <p:blipFill>
          <a:blip r:embed="rId10"/>
          <a:stretch>
            <a:fillRect/>
          </a:stretch>
        </p:blipFill>
        <p:spPr>
          <a:xfrm>
            <a:off x="7040880" y="2880360"/>
            <a:ext cx="1645920" cy="1234440"/>
          </a:xfrm>
          <a:prstGeom prst="rect">
            <a:avLst/>
          </a:prstGeom>
        </p:spPr>
      </p:pic>
      <p:sp>
        <p:nvSpPr>
          <p:cNvPr id="23" name="Text 11"/>
          <p:cNvSpPr txBox="1"/>
          <p:nvPr/>
        </p:nvSpPr>
        <p:spPr>
          <a:xfrm>
            <a:off x="7132320" y="4123944"/>
            <a:ext cx="1554480" cy="201168"/>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10 RESPIRATEUR</a:t>
            </a:r>
            <a:endParaRPr lang="en-US" sz="1000" dirty="0"/>
          </a:p>
        </p:txBody>
      </p:sp>
      <p:sp>
        <p:nvSpPr>
          <p:cNvPr id="24" name="Text 12"/>
          <p:cNvSpPr txBox="1"/>
          <p:nvPr/>
        </p:nvSpPr>
        <p:spPr>
          <a:xfrm>
            <a:off x="457200" y="4498848"/>
            <a:ext cx="594360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BLANC : TRANSPORT ET AÉROSPATIAL   ORANGE : BIOMÉDICAL</a:t>
            </a:r>
            <a:endParaRPr lang="en-US" sz="10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claude-0/-home-claude/053c1737-0915-558c-9e1b-4dff4915d402/scratchpad/assets/irm_ex.jp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01 · FONCTIONNALITÉS</a:t>
            </a:r>
            <a:endParaRPr lang="en-US" sz="1200" dirty="0"/>
          </a:p>
        </p:txBody>
      </p:sp>
      <p:sp>
        <p:nvSpPr>
          <p:cNvPr id="4"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Vue éclatée</a:t>
            </a:r>
            <a:endParaRPr lang="en-US" sz="4000" dirty="0"/>
          </a:p>
        </p:txBody>
      </p:sp>
      <p:sp>
        <p:nvSpPr>
          <p:cNvPr id="5" name="Text 2"/>
          <p:cNvSpPr txBox="1"/>
          <p:nvPr/>
        </p:nvSpPr>
        <p:spPr>
          <a:xfrm>
            <a:off x="457200" y="1417320"/>
            <a:ext cx="3657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01</a:t>
            </a:r>
            <a:endParaRPr lang="en-US" sz="1100" dirty="0"/>
          </a:p>
        </p:txBody>
      </p:sp>
      <p:sp>
        <p:nvSpPr>
          <p:cNvPr id="6" name="Text 3"/>
          <p:cNvSpPr txBox="1"/>
          <p:nvPr/>
        </p:nvSpPr>
        <p:spPr>
          <a:xfrm>
            <a:off x="822960" y="1399032"/>
            <a:ext cx="1737360" cy="237744"/>
          </a:xfrm>
          <a:prstGeom prst="rect">
            <a:avLst/>
          </a:prstGeom>
          <a:noFill/>
          <a:ln/>
        </p:spPr>
        <p:txBody>
          <a:bodyPr wrap="square" lIns="0" tIns="0" rIns="0" bIns="0" rtlCol="0" anchor="t"/>
          <a:lstStyle/>
          <a:p>
            <a:pPr algn="l" indent="0" marL="0">
              <a:buNone/>
            </a:pPr>
            <a:r>
              <a:rPr lang="en-US" sz="1400" b="1" dirty="0">
                <a:solidFill>
                  <a:schemeClr val="bg1"/>
                </a:solidFill>
              </a:rPr>
              <a:t>Bobines de gradient</a:t>
            </a:r>
            <a:endParaRPr lang="en-US" sz="1400" dirty="0"/>
          </a:p>
        </p:txBody>
      </p:sp>
      <p:sp>
        <p:nvSpPr>
          <p:cNvPr id="7" name="Text 4"/>
          <p:cNvSpPr txBox="1"/>
          <p:nvPr/>
        </p:nvSpPr>
        <p:spPr>
          <a:xfrm>
            <a:off x="822960" y="1645920"/>
            <a:ext cx="1737360" cy="411480"/>
          </a:xfrm>
          <a:prstGeom prst="rect">
            <a:avLst/>
          </a:prstGeom>
          <a:noFill/>
          <a:ln/>
        </p:spPr>
        <p:txBody>
          <a:bodyPr wrap="square" lIns="0" tIns="0" rIns="0" bIns="0" rtlCol="0" anchor="t"/>
          <a:lstStyle/>
          <a:p>
            <a:pPr indent="0" marL="0">
              <a:buNone/>
            </a:pPr>
            <a:r>
              <a:rPr lang="en-US" sz="1200" dirty="0">
                <a:solidFill>
                  <a:schemeClr val="accent2"/>
                </a:solidFill>
              </a:rPr>
              <a:t>localisent chaque point</a:t>
            </a:r>
            <a:endParaRPr lang="en-US" sz="1200" dirty="0"/>
          </a:p>
        </p:txBody>
      </p:sp>
      <p:sp>
        <p:nvSpPr>
          <p:cNvPr id="8" name="Shape 5"/>
          <p:cNvSpPr/>
          <p:nvPr/>
        </p:nvSpPr>
        <p:spPr>
          <a:xfrm flipV="1">
            <a:off x="2560320" y="731520"/>
            <a:ext cx="1261872" cy="777240"/>
          </a:xfrm>
          <a:prstGeom prst="line">
            <a:avLst/>
          </a:prstGeom>
          <a:noFill/>
          <a:ln w="12700">
            <a:solidFill>
              <a:schemeClr val="accent1"/>
            </a:solidFill>
            <a:prstDash val="solid"/>
          </a:ln>
        </p:spPr>
      </p:sp>
      <p:sp>
        <p:nvSpPr>
          <p:cNvPr id="9" name="Shape 6"/>
          <p:cNvSpPr/>
          <p:nvPr/>
        </p:nvSpPr>
        <p:spPr>
          <a:xfrm>
            <a:off x="3776472" y="685800"/>
            <a:ext cx="91440" cy="91440"/>
          </a:xfrm>
          <a:prstGeom prst="ellipse">
            <a:avLst/>
          </a:prstGeom>
          <a:solidFill>
            <a:schemeClr val="accent1"/>
          </a:solidFill>
          <a:ln w="12700">
            <a:solidFill>
              <a:schemeClr val="accent1"/>
            </a:solidFill>
            <a:prstDash val="solid"/>
          </a:ln>
        </p:spPr>
      </p:sp>
      <p:sp>
        <p:nvSpPr>
          <p:cNvPr id="10" name="Text 7"/>
          <p:cNvSpPr txBox="1"/>
          <p:nvPr/>
        </p:nvSpPr>
        <p:spPr>
          <a:xfrm>
            <a:off x="457200" y="2103120"/>
            <a:ext cx="3657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04</a:t>
            </a:r>
            <a:endParaRPr lang="en-US" sz="1100" dirty="0"/>
          </a:p>
        </p:txBody>
      </p:sp>
      <p:sp>
        <p:nvSpPr>
          <p:cNvPr id="11" name="Text 8"/>
          <p:cNvSpPr txBox="1"/>
          <p:nvPr/>
        </p:nvSpPr>
        <p:spPr>
          <a:xfrm>
            <a:off x="822960" y="2084832"/>
            <a:ext cx="1737360" cy="237744"/>
          </a:xfrm>
          <a:prstGeom prst="rect">
            <a:avLst/>
          </a:prstGeom>
          <a:noFill/>
          <a:ln/>
        </p:spPr>
        <p:txBody>
          <a:bodyPr wrap="square" lIns="0" tIns="0" rIns="0" bIns="0" rtlCol="0" anchor="t"/>
          <a:lstStyle/>
          <a:p>
            <a:pPr algn="l" indent="0" marL="0">
              <a:buNone/>
            </a:pPr>
            <a:r>
              <a:rPr lang="en-US" sz="1400" b="1" dirty="0">
                <a:solidFill>
                  <a:schemeClr val="bg1"/>
                </a:solidFill>
              </a:rPr>
              <a:t>Patient</a:t>
            </a:r>
            <a:endParaRPr lang="en-US" sz="1400" dirty="0"/>
          </a:p>
        </p:txBody>
      </p:sp>
      <p:sp>
        <p:nvSpPr>
          <p:cNvPr id="12" name="Text 9"/>
          <p:cNvSpPr txBox="1"/>
          <p:nvPr/>
        </p:nvSpPr>
        <p:spPr>
          <a:xfrm>
            <a:off x="822960" y="2331720"/>
            <a:ext cx="1737360" cy="411480"/>
          </a:xfrm>
          <a:prstGeom prst="rect">
            <a:avLst/>
          </a:prstGeom>
          <a:noFill/>
          <a:ln/>
        </p:spPr>
        <p:txBody>
          <a:bodyPr wrap="square" lIns="0" tIns="0" rIns="0" bIns="0" rtlCol="0" anchor="t"/>
          <a:lstStyle/>
          <a:p>
            <a:pPr indent="0" marL="0">
              <a:buNone/>
            </a:pPr>
            <a:r>
              <a:rPr lang="en-US" sz="1200" dirty="0">
                <a:solidFill>
                  <a:schemeClr val="accent2"/>
                </a:solidFill>
              </a:rPr>
              <a:t>donne l’échelle</a:t>
            </a:r>
            <a:endParaRPr lang="en-US" sz="1200" dirty="0"/>
          </a:p>
        </p:txBody>
      </p:sp>
      <p:sp>
        <p:nvSpPr>
          <p:cNvPr id="13" name="Shape 10"/>
          <p:cNvSpPr/>
          <p:nvPr/>
        </p:nvSpPr>
        <p:spPr>
          <a:xfrm>
            <a:off x="2560320" y="2194560"/>
            <a:ext cx="493776" cy="164592"/>
          </a:xfrm>
          <a:prstGeom prst="line">
            <a:avLst/>
          </a:prstGeom>
          <a:noFill/>
          <a:ln w="12700">
            <a:solidFill>
              <a:schemeClr val="accent1"/>
            </a:solidFill>
            <a:prstDash val="solid"/>
          </a:ln>
        </p:spPr>
      </p:sp>
      <p:sp>
        <p:nvSpPr>
          <p:cNvPr id="14" name="Shape 11"/>
          <p:cNvSpPr/>
          <p:nvPr/>
        </p:nvSpPr>
        <p:spPr>
          <a:xfrm>
            <a:off x="3008376" y="2313432"/>
            <a:ext cx="91440" cy="91440"/>
          </a:xfrm>
          <a:prstGeom prst="ellipse">
            <a:avLst/>
          </a:prstGeom>
          <a:solidFill>
            <a:schemeClr val="accent1"/>
          </a:solidFill>
          <a:ln w="12700">
            <a:solidFill>
              <a:schemeClr val="accent1"/>
            </a:solidFill>
            <a:prstDash val="solid"/>
          </a:ln>
        </p:spPr>
      </p:sp>
      <p:sp>
        <p:nvSpPr>
          <p:cNvPr id="15" name="Text 12"/>
          <p:cNvSpPr txBox="1"/>
          <p:nvPr/>
        </p:nvSpPr>
        <p:spPr>
          <a:xfrm>
            <a:off x="457200" y="3840480"/>
            <a:ext cx="3657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05</a:t>
            </a:r>
            <a:endParaRPr lang="en-US" sz="1100" dirty="0"/>
          </a:p>
        </p:txBody>
      </p:sp>
      <p:sp>
        <p:nvSpPr>
          <p:cNvPr id="16" name="Text 13"/>
          <p:cNvSpPr txBox="1"/>
          <p:nvPr/>
        </p:nvSpPr>
        <p:spPr>
          <a:xfrm>
            <a:off x="822960" y="3822192"/>
            <a:ext cx="1737360" cy="237744"/>
          </a:xfrm>
          <a:prstGeom prst="rect">
            <a:avLst/>
          </a:prstGeom>
          <a:noFill/>
          <a:ln/>
        </p:spPr>
        <p:txBody>
          <a:bodyPr wrap="square" lIns="0" tIns="0" rIns="0" bIns="0" rtlCol="0" anchor="t"/>
          <a:lstStyle/>
          <a:p>
            <a:pPr algn="l" indent="0" marL="0">
              <a:buNone/>
            </a:pPr>
            <a:r>
              <a:rPr lang="en-US" sz="1400" b="1" dirty="0">
                <a:solidFill>
                  <a:schemeClr val="bg1"/>
                </a:solidFill>
              </a:rPr>
              <a:t>Table patient</a:t>
            </a:r>
            <a:endParaRPr lang="en-US" sz="1400" dirty="0"/>
          </a:p>
        </p:txBody>
      </p:sp>
      <p:sp>
        <p:nvSpPr>
          <p:cNvPr id="17" name="Text 14"/>
          <p:cNvSpPr txBox="1"/>
          <p:nvPr/>
        </p:nvSpPr>
        <p:spPr>
          <a:xfrm>
            <a:off x="822960" y="4069080"/>
            <a:ext cx="1737360" cy="411480"/>
          </a:xfrm>
          <a:prstGeom prst="rect">
            <a:avLst/>
          </a:prstGeom>
          <a:noFill/>
          <a:ln/>
        </p:spPr>
        <p:txBody>
          <a:bodyPr wrap="square" lIns="0" tIns="0" rIns="0" bIns="0" rtlCol="0" anchor="t"/>
          <a:lstStyle/>
          <a:p>
            <a:pPr indent="0" marL="0">
              <a:buNone/>
            </a:pPr>
            <a:r>
              <a:rPr lang="en-US" sz="1200" dirty="0">
                <a:solidFill>
                  <a:schemeClr val="accent2"/>
                </a:solidFill>
              </a:rPr>
              <a:t>motorisée, amagnétique</a:t>
            </a:r>
            <a:endParaRPr lang="en-US" sz="1200" dirty="0"/>
          </a:p>
        </p:txBody>
      </p:sp>
      <p:sp>
        <p:nvSpPr>
          <p:cNvPr id="18" name="Shape 15"/>
          <p:cNvSpPr/>
          <p:nvPr/>
        </p:nvSpPr>
        <p:spPr>
          <a:xfrm>
            <a:off x="2560320" y="3931920"/>
            <a:ext cx="228600" cy="91440"/>
          </a:xfrm>
          <a:prstGeom prst="line">
            <a:avLst/>
          </a:prstGeom>
          <a:noFill/>
          <a:ln w="12700">
            <a:solidFill>
              <a:schemeClr val="accent1"/>
            </a:solidFill>
            <a:prstDash val="solid"/>
          </a:ln>
        </p:spPr>
      </p:sp>
      <p:sp>
        <p:nvSpPr>
          <p:cNvPr id="19" name="Shape 16"/>
          <p:cNvSpPr/>
          <p:nvPr/>
        </p:nvSpPr>
        <p:spPr>
          <a:xfrm>
            <a:off x="2743200" y="3977640"/>
            <a:ext cx="91440" cy="91440"/>
          </a:xfrm>
          <a:prstGeom prst="ellipse">
            <a:avLst/>
          </a:prstGeom>
          <a:solidFill>
            <a:schemeClr val="accent1"/>
          </a:solidFill>
          <a:ln w="12700">
            <a:solidFill>
              <a:schemeClr val="accent1"/>
            </a:solidFill>
            <a:prstDash val="solid"/>
          </a:ln>
        </p:spPr>
      </p:sp>
      <p:sp>
        <p:nvSpPr>
          <p:cNvPr id="20" name="Text 17"/>
          <p:cNvSpPr txBox="1"/>
          <p:nvPr/>
        </p:nvSpPr>
        <p:spPr>
          <a:xfrm>
            <a:off x="6675120" y="1691640"/>
            <a:ext cx="3657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02</a:t>
            </a:r>
            <a:endParaRPr lang="en-US" sz="1100" dirty="0"/>
          </a:p>
        </p:txBody>
      </p:sp>
      <p:sp>
        <p:nvSpPr>
          <p:cNvPr id="21" name="Text 18"/>
          <p:cNvSpPr txBox="1"/>
          <p:nvPr/>
        </p:nvSpPr>
        <p:spPr>
          <a:xfrm>
            <a:off x="7040880" y="1673352"/>
            <a:ext cx="1737360" cy="237744"/>
          </a:xfrm>
          <a:prstGeom prst="rect">
            <a:avLst/>
          </a:prstGeom>
          <a:noFill/>
          <a:ln/>
        </p:spPr>
        <p:txBody>
          <a:bodyPr wrap="square" lIns="0" tIns="0" rIns="0" bIns="0" rtlCol="0" anchor="t"/>
          <a:lstStyle/>
          <a:p>
            <a:pPr algn="l" indent="0" marL="0">
              <a:buNone/>
            </a:pPr>
            <a:r>
              <a:rPr lang="en-US" sz="1400" b="1" dirty="0">
                <a:solidFill>
                  <a:schemeClr val="bg1"/>
                </a:solidFill>
              </a:rPr>
              <a:t>Aimant</a:t>
            </a:r>
            <a:endParaRPr lang="en-US" sz="1400" dirty="0"/>
          </a:p>
        </p:txBody>
      </p:sp>
      <p:sp>
        <p:nvSpPr>
          <p:cNvPr id="22" name="Text 19"/>
          <p:cNvSpPr txBox="1"/>
          <p:nvPr/>
        </p:nvSpPr>
        <p:spPr>
          <a:xfrm>
            <a:off x="7040880" y="1920240"/>
            <a:ext cx="1737360" cy="411480"/>
          </a:xfrm>
          <a:prstGeom prst="rect">
            <a:avLst/>
          </a:prstGeom>
          <a:noFill/>
          <a:ln/>
        </p:spPr>
        <p:txBody>
          <a:bodyPr wrap="square" lIns="0" tIns="0" rIns="0" bIns="0" rtlCol="0" anchor="t"/>
          <a:lstStyle/>
          <a:p>
            <a:pPr indent="0" marL="0">
              <a:buNone/>
            </a:pPr>
            <a:r>
              <a:rPr lang="en-US" sz="1200" dirty="0">
                <a:solidFill>
                  <a:schemeClr val="accent2"/>
                </a:solidFill>
              </a:rPr>
              <a:t>supraconducteur, refroidi à l’hélium</a:t>
            </a:r>
            <a:endParaRPr lang="en-US" sz="1200" dirty="0"/>
          </a:p>
        </p:txBody>
      </p:sp>
      <p:sp>
        <p:nvSpPr>
          <p:cNvPr id="23" name="Shape 20"/>
          <p:cNvSpPr/>
          <p:nvPr/>
        </p:nvSpPr>
        <p:spPr>
          <a:xfrm>
            <a:off x="5998464" y="1536192"/>
            <a:ext cx="630936" cy="246888"/>
          </a:xfrm>
          <a:prstGeom prst="line">
            <a:avLst/>
          </a:prstGeom>
          <a:noFill/>
          <a:ln w="12700">
            <a:solidFill>
              <a:schemeClr val="accent1"/>
            </a:solidFill>
            <a:prstDash val="solid"/>
          </a:ln>
        </p:spPr>
      </p:sp>
      <p:sp>
        <p:nvSpPr>
          <p:cNvPr id="24" name="Shape 21"/>
          <p:cNvSpPr/>
          <p:nvPr/>
        </p:nvSpPr>
        <p:spPr>
          <a:xfrm>
            <a:off x="5952744" y="1490472"/>
            <a:ext cx="91440" cy="91440"/>
          </a:xfrm>
          <a:prstGeom prst="ellipse">
            <a:avLst/>
          </a:prstGeom>
          <a:solidFill>
            <a:schemeClr val="accent1"/>
          </a:solidFill>
          <a:ln w="12700">
            <a:solidFill>
              <a:schemeClr val="accent1"/>
            </a:solidFill>
            <a:prstDash val="solid"/>
          </a:ln>
        </p:spPr>
      </p:sp>
      <p:sp>
        <p:nvSpPr>
          <p:cNvPr id="25" name="Text 22"/>
          <p:cNvSpPr txBox="1"/>
          <p:nvPr/>
        </p:nvSpPr>
        <p:spPr>
          <a:xfrm>
            <a:off x="6675120" y="2697480"/>
            <a:ext cx="3657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03</a:t>
            </a:r>
            <a:endParaRPr lang="en-US" sz="1100" dirty="0"/>
          </a:p>
        </p:txBody>
      </p:sp>
      <p:sp>
        <p:nvSpPr>
          <p:cNvPr id="26" name="Text 23"/>
          <p:cNvSpPr txBox="1"/>
          <p:nvPr/>
        </p:nvSpPr>
        <p:spPr>
          <a:xfrm>
            <a:off x="7040880" y="2679192"/>
            <a:ext cx="1737360" cy="237744"/>
          </a:xfrm>
          <a:prstGeom prst="rect">
            <a:avLst/>
          </a:prstGeom>
          <a:noFill/>
          <a:ln/>
        </p:spPr>
        <p:txBody>
          <a:bodyPr wrap="square" lIns="0" tIns="0" rIns="0" bIns="0" rtlCol="0" anchor="t"/>
          <a:lstStyle/>
          <a:p>
            <a:pPr algn="l" indent="0" marL="0">
              <a:buNone/>
            </a:pPr>
            <a:r>
              <a:rPr lang="en-US" sz="1400" b="1" dirty="0">
                <a:solidFill>
                  <a:schemeClr val="bg1"/>
                </a:solidFill>
              </a:rPr>
              <a:t>Carter de l’aimant</a:t>
            </a:r>
            <a:endParaRPr lang="en-US" sz="1400" dirty="0"/>
          </a:p>
        </p:txBody>
      </p:sp>
      <p:sp>
        <p:nvSpPr>
          <p:cNvPr id="27" name="Text 24"/>
          <p:cNvSpPr txBox="1"/>
          <p:nvPr/>
        </p:nvSpPr>
        <p:spPr>
          <a:xfrm>
            <a:off x="7040880" y="2926080"/>
            <a:ext cx="1737360" cy="411480"/>
          </a:xfrm>
          <a:prstGeom prst="rect">
            <a:avLst/>
          </a:prstGeom>
          <a:noFill/>
          <a:ln/>
        </p:spPr>
        <p:txBody>
          <a:bodyPr wrap="square" lIns="0" tIns="0" rIns="0" bIns="0" rtlCol="0" anchor="t"/>
          <a:lstStyle/>
          <a:p>
            <a:pPr indent="0" marL="0">
              <a:buNone/>
            </a:pPr>
            <a:r>
              <a:rPr lang="en-US" sz="1200" dirty="0">
                <a:solidFill>
                  <a:schemeClr val="accent2"/>
                </a:solidFill>
              </a:rPr>
              <a:t>isole le tunnel</a:t>
            </a:r>
            <a:endParaRPr lang="en-US" sz="1200" dirty="0"/>
          </a:p>
        </p:txBody>
      </p:sp>
      <p:sp>
        <p:nvSpPr>
          <p:cNvPr id="28" name="Shape 25"/>
          <p:cNvSpPr/>
          <p:nvPr/>
        </p:nvSpPr>
        <p:spPr>
          <a:xfrm flipV="1">
            <a:off x="4572000" y="2788920"/>
            <a:ext cx="2057400" cy="923544"/>
          </a:xfrm>
          <a:prstGeom prst="line">
            <a:avLst/>
          </a:prstGeom>
          <a:noFill/>
          <a:ln w="12700">
            <a:solidFill>
              <a:schemeClr val="accent1"/>
            </a:solidFill>
            <a:prstDash val="solid"/>
          </a:ln>
        </p:spPr>
      </p:sp>
      <p:sp>
        <p:nvSpPr>
          <p:cNvPr id="29" name="Shape 26"/>
          <p:cNvSpPr/>
          <p:nvPr/>
        </p:nvSpPr>
        <p:spPr>
          <a:xfrm>
            <a:off x="4526280" y="3666744"/>
            <a:ext cx="91440" cy="91440"/>
          </a:xfrm>
          <a:prstGeom prst="ellipse">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02 · LA DÉMO</a:t>
            </a: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Deux minutes, six gestes</a:t>
            </a:r>
            <a:endParaRPr lang="en-US" sz="4000" dirty="0"/>
          </a:p>
        </p:txBody>
      </p:sp>
      <p:pic>
        <p:nvPicPr>
          <p:cNvPr id="4" name="Image 0" descr="/tmp/claude-0/-home-claude/053c1737-0915-558c-9e1b-4dff4915d402/scratchpad/assets/hand_fist.png">    </p:cNvPr>
          <p:cNvPicPr>
            <a:picLocks noChangeAspect="1"/>
          </p:cNvPicPr>
          <p:nvPr/>
        </p:nvPicPr>
        <p:blipFill>
          <a:blip r:embed="rId1"/>
          <a:stretch>
            <a:fillRect/>
          </a:stretch>
        </p:blipFill>
        <p:spPr>
          <a:xfrm>
            <a:off x="502920" y="1325880"/>
            <a:ext cx="1188720" cy="1600200"/>
          </a:xfrm>
          <a:prstGeom prst="rect">
            <a:avLst/>
          </a:prstGeom>
        </p:spPr>
      </p:pic>
      <p:sp>
        <p:nvSpPr>
          <p:cNvPr id="5" name="Text 2"/>
          <p:cNvSpPr txBox="1"/>
          <p:nvPr/>
        </p:nvSpPr>
        <p:spPr>
          <a:xfrm>
            <a:off x="457200" y="3108960"/>
            <a:ext cx="12801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0:15</a:t>
            </a:r>
            <a:endParaRPr lang="en-US" sz="1100" dirty="0"/>
          </a:p>
        </p:txBody>
      </p:sp>
      <p:sp>
        <p:nvSpPr>
          <p:cNvPr id="6" name="Text 3"/>
          <p:cNvSpPr txBox="1"/>
          <p:nvPr/>
        </p:nvSpPr>
        <p:spPr>
          <a:xfrm>
            <a:off x="457200" y="3337560"/>
            <a:ext cx="1325880" cy="274320"/>
          </a:xfrm>
          <a:prstGeom prst="rect">
            <a:avLst/>
          </a:prstGeom>
          <a:noFill/>
          <a:ln/>
        </p:spPr>
        <p:txBody>
          <a:bodyPr wrap="square" lIns="0" tIns="0" rIns="0" bIns="0" rtlCol="0" anchor="t"/>
          <a:lstStyle/>
          <a:p>
            <a:pPr indent="0" marL="0">
              <a:buNone/>
            </a:pPr>
            <a:r>
              <a:rPr lang="en-US" sz="1400" b="1" dirty="0">
                <a:solidFill>
                  <a:schemeClr val="bg1"/>
                </a:solidFill>
              </a:rPr>
              <a:t>Poing</a:t>
            </a:r>
            <a:endParaRPr lang="en-US" sz="1400" dirty="0"/>
          </a:p>
        </p:txBody>
      </p:sp>
      <p:sp>
        <p:nvSpPr>
          <p:cNvPr id="7" name="Text 4"/>
          <p:cNvSpPr txBox="1"/>
          <p:nvPr/>
        </p:nvSpPr>
        <p:spPr>
          <a:xfrm>
            <a:off x="457200" y="3858768"/>
            <a:ext cx="1280160" cy="411480"/>
          </a:xfrm>
          <a:prstGeom prst="rect">
            <a:avLst/>
          </a:prstGeom>
          <a:noFill/>
          <a:ln/>
        </p:spPr>
        <p:txBody>
          <a:bodyPr wrap="square" lIns="0" tIns="0" rIns="0" bIns="0" rtlCol="0" anchor="t"/>
          <a:lstStyle/>
          <a:p>
            <a:pPr indent="0" marL="0">
              <a:buNone/>
            </a:pPr>
            <a:r>
              <a:rPr lang="en-US" sz="1200" dirty="0">
                <a:solidFill>
                  <a:schemeClr val="accent4"/>
                </a:solidFill>
              </a:rPr>
              <a:t>L'objet tourne</a:t>
            </a:r>
            <a:endParaRPr lang="en-US" sz="1200" dirty="0"/>
          </a:p>
        </p:txBody>
      </p:sp>
      <p:pic>
        <p:nvPicPr>
          <p:cNvPr id="8" name="Image 1" descr="/tmp/claude-0/-home-claude/053c1737-0915-558c-9e1b-4dff4915d402/scratchpad/assets/hand_peace.png">    </p:cNvPr>
          <p:cNvPicPr>
            <a:picLocks noChangeAspect="1"/>
          </p:cNvPicPr>
          <p:nvPr/>
        </p:nvPicPr>
        <p:blipFill>
          <a:blip r:embed="rId2"/>
          <a:stretch>
            <a:fillRect/>
          </a:stretch>
        </p:blipFill>
        <p:spPr>
          <a:xfrm>
            <a:off x="1874520" y="1325880"/>
            <a:ext cx="1188720" cy="1600200"/>
          </a:xfrm>
          <a:prstGeom prst="rect">
            <a:avLst/>
          </a:prstGeom>
        </p:spPr>
      </p:pic>
      <p:sp>
        <p:nvSpPr>
          <p:cNvPr id="9" name="Text 5"/>
          <p:cNvSpPr txBox="1"/>
          <p:nvPr/>
        </p:nvSpPr>
        <p:spPr>
          <a:xfrm>
            <a:off x="1828800" y="3108960"/>
            <a:ext cx="12801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0:35</a:t>
            </a:r>
            <a:endParaRPr lang="en-US" sz="1100" dirty="0"/>
          </a:p>
        </p:txBody>
      </p:sp>
      <p:sp>
        <p:nvSpPr>
          <p:cNvPr id="10" name="Text 6"/>
          <p:cNvSpPr txBox="1"/>
          <p:nvPr/>
        </p:nvSpPr>
        <p:spPr>
          <a:xfrm>
            <a:off x="1828800" y="3337560"/>
            <a:ext cx="1325880" cy="274320"/>
          </a:xfrm>
          <a:prstGeom prst="rect">
            <a:avLst/>
          </a:prstGeom>
          <a:noFill/>
          <a:ln/>
        </p:spPr>
        <p:txBody>
          <a:bodyPr wrap="square" lIns="0" tIns="0" rIns="0" bIns="0" rtlCol="0" anchor="t"/>
          <a:lstStyle/>
          <a:p>
            <a:pPr indent="0" marL="0">
              <a:buNone/>
            </a:pPr>
            <a:r>
              <a:rPr lang="en-US" sz="1400" b="1" dirty="0">
                <a:solidFill>
                  <a:schemeClr val="bg1"/>
                </a:solidFill>
              </a:rPr>
              <a:t>Deux doigts</a:t>
            </a:r>
            <a:endParaRPr lang="en-US" sz="1400" dirty="0"/>
          </a:p>
        </p:txBody>
      </p:sp>
      <p:sp>
        <p:nvSpPr>
          <p:cNvPr id="11" name="Text 7"/>
          <p:cNvSpPr txBox="1"/>
          <p:nvPr/>
        </p:nvSpPr>
        <p:spPr>
          <a:xfrm>
            <a:off x="1828800" y="3639312"/>
            <a:ext cx="132588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MAINTENU 1 S</a:t>
            </a:r>
            <a:endParaRPr lang="en-US" sz="1000" dirty="0"/>
          </a:p>
        </p:txBody>
      </p:sp>
      <p:sp>
        <p:nvSpPr>
          <p:cNvPr id="12" name="Text 8"/>
          <p:cNvSpPr txBox="1"/>
          <p:nvPr/>
        </p:nvSpPr>
        <p:spPr>
          <a:xfrm>
            <a:off x="1828800" y="3858768"/>
            <a:ext cx="1280160" cy="411480"/>
          </a:xfrm>
          <a:prstGeom prst="rect">
            <a:avLst/>
          </a:prstGeom>
          <a:noFill/>
          <a:ln/>
        </p:spPr>
        <p:txBody>
          <a:bodyPr wrap="square" lIns="0" tIns="0" rIns="0" bIns="0" rtlCol="0" anchor="t"/>
          <a:lstStyle/>
          <a:p>
            <a:pPr indent="0" marL="0">
              <a:buNone/>
            </a:pPr>
            <a:r>
              <a:rPr lang="en-US" sz="1200" dirty="0">
                <a:solidFill>
                  <a:schemeClr val="accent4"/>
                </a:solidFill>
              </a:rPr>
              <a:t>Vue éclatée</a:t>
            </a:r>
            <a:endParaRPr lang="en-US" sz="1200" dirty="0"/>
          </a:p>
        </p:txBody>
      </p:sp>
      <p:pic>
        <p:nvPicPr>
          <p:cNvPr id="13" name="Image 2" descr="/tmp/claude-0/-home-claude/053c1737-0915-558c-9e1b-4dff4915d402/scratchpad/assets/hand_point.png">    </p:cNvPr>
          <p:cNvPicPr>
            <a:picLocks noChangeAspect="1"/>
          </p:cNvPicPr>
          <p:nvPr/>
        </p:nvPicPr>
        <p:blipFill>
          <a:blip r:embed="rId3"/>
          <a:stretch>
            <a:fillRect/>
          </a:stretch>
        </p:blipFill>
        <p:spPr>
          <a:xfrm>
            <a:off x="3246120" y="1325880"/>
            <a:ext cx="1188720" cy="1600200"/>
          </a:xfrm>
          <a:prstGeom prst="rect">
            <a:avLst/>
          </a:prstGeom>
        </p:spPr>
      </p:pic>
      <p:sp>
        <p:nvSpPr>
          <p:cNvPr id="14" name="Text 9"/>
          <p:cNvSpPr txBox="1"/>
          <p:nvPr/>
        </p:nvSpPr>
        <p:spPr>
          <a:xfrm>
            <a:off x="3200400" y="3108960"/>
            <a:ext cx="12801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0:55</a:t>
            </a:r>
            <a:endParaRPr lang="en-US" sz="1100" dirty="0"/>
          </a:p>
        </p:txBody>
      </p:sp>
      <p:sp>
        <p:nvSpPr>
          <p:cNvPr id="15" name="Text 10"/>
          <p:cNvSpPr txBox="1"/>
          <p:nvPr/>
        </p:nvSpPr>
        <p:spPr>
          <a:xfrm>
            <a:off x="3200400" y="3337560"/>
            <a:ext cx="1325880" cy="274320"/>
          </a:xfrm>
          <a:prstGeom prst="rect">
            <a:avLst/>
          </a:prstGeom>
          <a:noFill/>
          <a:ln/>
        </p:spPr>
        <p:txBody>
          <a:bodyPr wrap="square" lIns="0" tIns="0" rIns="0" bIns="0" rtlCol="0" anchor="t"/>
          <a:lstStyle/>
          <a:p>
            <a:pPr indent="0" marL="0">
              <a:buNone/>
            </a:pPr>
            <a:r>
              <a:rPr lang="en-US" sz="1400" b="1" dirty="0">
                <a:solidFill>
                  <a:schemeClr val="bg1"/>
                </a:solidFill>
              </a:rPr>
              <a:t>Un doigt</a:t>
            </a:r>
            <a:endParaRPr lang="en-US" sz="1400" dirty="0"/>
          </a:p>
        </p:txBody>
      </p:sp>
      <p:sp>
        <p:nvSpPr>
          <p:cNvPr id="16" name="Text 11"/>
          <p:cNvSpPr txBox="1"/>
          <p:nvPr/>
        </p:nvSpPr>
        <p:spPr>
          <a:xfrm>
            <a:off x="3200400" y="3639312"/>
            <a:ext cx="132588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MAINTENU 1 S</a:t>
            </a:r>
            <a:endParaRPr lang="en-US" sz="1000" dirty="0"/>
          </a:p>
        </p:txBody>
      </p:sp>
      <p:sp>
        <p:nvSpPr>
          <p:cNvPr id="17" name="Text 12"/>
          <p:cNvSpPr txBox="1"/>
          <p:nvPr/>
        </p:nvSpPr>
        <p:spPr>
          <a:xfrm>
            <a:off x="3200400" y="3858768"/>
            <a:ext cx="1280160" cy="411480"/>
          </a:xfrm>
          <a:prstGeom prst="rect">
            <a:avLst/>
          </a:prstGeom>
          <a:noFill/>
          <a:ln/>
        </p:spPr>
        <p:txBody>
          <a:bodyPr wrap="square" lIns="0" tIns="0" rIns="0" bIns="0" rtlCol="0" anchor="t"/>
          <a:lstStyle/>
          <a:p>
            <a:pPr indent="0" marL="0">
              <a:buNone/>
            </a:pPr>
            <a:r>
              <a:rPr lang="en-US" sz="1200" dirty="0">
                <a:solidFill>
                  <a:schemeClr val="accent4"/>
                </a:solidFill>
              </a:rPr>
              <a:t>Fiche d'une pièce</a:t>
            </a:r>
            <a:endParaRPr lang="en-US" sz="1200" dirty="0"/>
          </a:p>
        </p:txBody>
      </p:sp>
      <p:pic>
        <p:nvPicPr>
          <p:cNvPr id="18" name="Image 3" descr="/tmp/claude-0/-home-claude/053c1737-0915-558c-9e1b-4dff4915d402/scratchpad/assets/hand_three.png">    </p:cNvPr>
          <p:cNvPicPr>
            <a:picLocks noChangeAspect="1"/>
          </p:cNvPicPr>
          <p:nvPr/>
        </p:nvPicPr>
        <p:blipFill>
          <a:blip r:embed="rId4"/>
          <a:stretch>
            <a:fillRect/>
          </a:stretch>
        </p:blipFill>
        <p:spPr>
          <a:xfrm>
            <a:off x="4617720" y="1325880"/>
            <a:ext cx="1188720" cy="1600200"/>
          </a:xfrm>
          <a:prstGeom prst="rect">
            <a:avLst/>
          </a:prstGeom>
        </p:spPr>
      </p:pic>
      <p:sp>
        <p:nvSpPr>
          <p:cNvPr id="19" name="Text 13"/>
          <p:cNvSpPr txBox="1"/>
          <p:nvPr/>
        </p:nvSpPr>
        <p:spPr>
          <a:xfrm>
            <a:off x="4572000" y="3108960"/>
            <a:ext cx="12801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1:15</a:t>
            </a:r>
            <a:endParaRPr lang="en-US" sz="1100" dirty="0"/>
          </a:p>
        </p:txBody>
      </p:sp>
      <p:sp>
        <p:nvSpPr>
          <p:cNvPr id="20" name="Text 14"/>
          <p:cNvSpPr txBox="1"/>
          <p:nvPr/>
        </p:nvSpPr>
        <p:spPr>
          <a:xfrm>
            <a:off x="4572000" y="3337560"/>
            <a:ext cx="1325880" cy="274320"/>
          </a:xfrm>
          <a:prstGeom prst="rect">
            <a:avLst/>
          </a:prstGeom>
          <a:noFill/>
          <a:ln/>
        </p:spPr>
        <p:txBody>
          <a:bodyPr wrap="square" lIns="0" tIns="0" rIns="0" bIns="0" rtlCol="0" anchor="t"/>
          <a:lstStyle/>
          <a:p>
            <a:pPr indent="0" marL="0">
              <a:buNone/>
            </a:pPr>
            <a:r>
              <a:rPr lang="en-US" sz="1400" b="1" dirty="0">
                <a:solidFill>
                  <a:schemeClr val="bg1"/>
                </a:solidFill>
              </a:rPr>
              <a:t>Trois doigts</a:t>
            </a:r>
            <a:endParaRPr lang="en-US" sz="1400" dirty="0"/>
          </a:p>
        </p:txBody>
      </p:sp>
      <p:sp>
        <p:nvSpPr>
          <p:cNvPr id="21" name="Text 15"/>
          <p:cNvSpPr txBox="1"/>
          <p:nvPr/>
        </p:nvSpPr>
        <p:spPr>
          <a:xfrm>
            <a:off x="4572000" y="3639312"/>
            <a:ext cx="132588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MAINTENU 1 S</a:t>
            </a:r>
            <a:endParaRPr lang="en-US" sz="1000" dirty="0"/>
          </a:p>
        </p:txBody>
      </p:sp>
      <p:sp>
        <p:nvSpPr>
          <p:cNvPr id="22" name="Text 16"/>
          <p:cNvSpPr txBox="1"/>
          <p:nvPr/>
        </p:nvSpPr>
        <p:spPr>
          <a:xfrm>
            <a:off x="4572000" y="3858768"/>
            <a:ext cx="1280160" cy="411480"/>
          </a:xfrm>
          <a:prstGeom prst="rect">
            <a:avLst/>
          </a:prstGeom>
          <a:noFill/>
          <a:ln/>
        </p:spPr>
        <p:txBody>
          <a:bodyPr wrap="square" lIns="0" tIns="0" rIns="0" bIns="0" rtlCol="0" anchor="t"/>
          <a:lstStyle/>
          <a:p>
            <a:pPr indent="0" marL="0">
              <a:buNone/>
            </a:pPr>
            <a:r>
              <a:rPr lang="en-US" sz="1200" dirty="0">
                <a:solidFill>
                  <a:schemeClr val="accent4"/>
                </a:solidFill>
              </a:rPr>
              <a:t>Transparence</a:t>
            </a:r>
            <a:endParaRPr lang="en-US" sz="1200" dirty="0"/>
          </a:p>
        </p:txBody>
      </p:sp>
      <p:pic>
        <p:nvPicPr>
          <p:cNvPr id="23" name="Image 4" descr="/tmp/claude-0/-home-claude/053c1737-0915-558c-9e1b-4dff4915d402/scratchpad/assets/hand_open.png">    </p:cNvPr>
          <p:cNvPicPr>
            <a:picLocks noChangeAspect="1"/>
          </p:cNvPicPr>
          <p:nvPr/>
        </p:nvPicPr>
        <p:blipFill>
          <a:blip r:embed="rId5"/>
          <a:stretch>
            <a:fillRect/>
          </a:stretch>
        </p:blipFill>
        <p:spPr>
          <a:xfrm>
            <a:off x="5989320" y="1325880"/>
            <a:ext cx="1188720" cy="1600200"/>
          </a:xfrm>
          <a:prstGeom prst="rect">
            <a:avLst/>
          </a:prstGeom>
        </p:spPr>
      </p:pic>
      <p:sp>
        <p:nvSpPr>
          <p:cNvPr id="24" name="Text 17"/>
          <p:cNvSpPr txBox="1"/>
          <p:nvPr/>
        </p:nvSpPr>
        <p:spPr>
          <a:xfrm>
            <a:off x="5943600" y="3108960"/>
            <a:ext cx="12801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1:30</a:t>
            </a:r>
            <a:endParaRPr lang="en-US" sz="1100" dirty="0"/>
          </a:p>
        </p:txBody>
      </p:sp>
      <p:sp>
        <p:nvSpPr>
          <p:cNvPr id="25" name="Text 18"/>
          <p:cNvSpPr txBox="1"/>
          <p:nvPr/>
        </p:nvSpPr>
        <p:spPr>
          <a:xfrm>
            <a:off x="5943600" y="3337560"/>
            <a:ext cx="1325880" cy="274320"/>
          </a:xfrm>
          <a:prstGeom prst="rect">
            <a:avLst/>
          </a:prstGeom>
          <a:noFill/>
          <a:ln/>
        </p:spPr>
        <p:txBody>
          <a:bodyPr wrap="square" lIns="0" tIns="0" rIns="0" bIns="0" rtlCol="0" anchor="t"/>
          <a:lstStyle/>
          <a:p>
            <a:pPr indent="0" marL="0">
              <a:buNone/>
            </a:pPr>
            <a:r>
              <a:rPr lang="en-US" sz="1400" b="1" dirty="0">
                <a:solidFill>
                  <a:schemeClr val="bg1"/>
                </a:solidFill>
              </a:rPr>
              <a:t>Paume</a:t>
            </a:r>
            <a:endParaRPr lang="en-US" sz="1400" dirty="0"/>
          </a:p>
        </p:txBody>
      </p:sp>
      <p:sp>
        <p:nvSpPr>
          <p:cNvPr id="26" name="Text 19"/>
          <p:cNvSpPr txBox="1"/>
          <p:nvPr/>
        </p:nvSpPr>
        <p:spPr>
          <a:xfrm>
            <a:off x="5943600" y="3639312"/>
            <a:ext cx="132588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BALAYAGE</a:t>
            </a:r>
            <a:endParaRPr lang="en-US" sz="1000" dirty="0"/>
          </a:p>
        </p:txBody>
      </p:sp>
      <p:sp>
        <p:nvSpPr>
          <p:cNvPr id="27" name="Text 20"/>
          <p:cNvSpPr txBox="1"/>
          <p:nvPr/>
        </p:nvSpPr>
        <p:spPr>
          <a:xfrm>
            <a:off x="5943600" y="3858768"/>
            <a:ext cx="1280160" cy="411480"/>
          </a:xfrm>
          <a:prstGeom prst="rect">
            <a:avLst/>
          </a:prstGeom>
          <a:noFill/>
          <a:ln/>
        </p:spPr>
        <p:txBody>
          <a:bodyPr wrap="square" lIns="0" tIns="0" rIns="0" bIns="0" rtlCol="0" anchor="t"/>
          <a:lstStyle/>
          <a:p>
            <a:pPr indent="0" marL="0">
              <a:buNone/>
            </a:pPr>
            <a:r>
              <a:rPr lang="en-US" sz="1200" dirty="0">
                <a:solidFill>
                  <a:schemeClr val="accent4"/>
                </a:solidFill>
              </a:rPr>
              <a:t>Objet suivant</a:t>
            </a:r>
            <a:endParaRPr lang="en-US" sz="1200" dirty="0"/>
          </a:p>
        </p:txBody>
      </p:sp>
      <p:pic>
        <p:nvPicPr>
          <p:cNvPr id="28" name="Image 5" descr="/tmp/claude-0/-home-claude/053c1737-0915-558c-9e1b-4dff4915d402/scratchpad/assets/hand_zoom.png">    </p:cNvPr>
          <p:cNvPicPr>
            <a:picLocks noChangeAspect="1"/>
          </p:cNvPicPr>
          <p:nvPr/>
        </p:nvPicPr>
        <p:blipFill>
          <a:blip r:embed="rId6"/>
          <a:stretch>
            <a:fillRect/>
          </a:stretch>
        </p:blipFill>
        <p:spPr>
          <a:xfrm>
            <a:off x="7333488" y="1737360"/>
            <a:ext cx="1280160" cy="813816"/>
          </a:xfrm>
          <a:prstGeom prst="rect">
            <a:avLst/>
          </a:prstGeom>
        </p:spPr>
      </p:pic>
      <p:sp>
        <p:nvSpPr>
          <p:cNvPr id="29" name="Text 21"/>
          <p:cNvSpPr txBox="1"/>
          <p:nvPr/>
        </p:nvSpPr>
        <p:spPr>
          <a:xfrm>
            <a:off x="7315200" y="3108960"/>
            <a:ext cx="128016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1:45</a:t>
            </a:r>
            <a:endParaRPr lang="en-US" sz="1100" dirty="0"/>
          </a:p>
        </p:txBody>
      </p:sp>
      <p:sp>
        <p:nvSpPr>
          <p:cNvPr id="30" name="Text 22"/>
          <p:cNvSpPr txBox="1"/>
          <p:nvPr/>
        </p:nvSpPr>
        <p:spPr>
          <a:xfrm>
            <a:off x="7315200" y="3337560"/>
            <a:ext cx="1325880" cy="274320"/>
          </a:xfrm>
          <a:prstGeom prst="rect">
            <a:avLst/>
          </a:prstGeom>
          <a:noFill/>
          <a:ln/>
        </p:spPr>
        <p:txBody>
          <a:bodyPr wrap="square" lIns="0" tIns="0" rIns="0" bIns="0" rtlCol="0" anchor="t"/>
          <a:lstStyle/>
          <a:p>
            <a:pPr indent="0" marL="0">
              <a:buNone/>
            </a:pPr>
            <a:r>
              <a:rPr lang="en-US" sz="1400" b="1" dirty="0">
                <a:solidFill>
                  <a:schemeClr val="bg1"/>
                </a:solidFill>
              </a:rPr>
              <a:t>Deux mains</a:t>
            </a:r>
            <a:endParaRPr lang="en-US" sz="1400" dirty="0"/>
          </a:p>
        </p:txBody>
      </p:sp>
      <p:sp>
        <p:nvSpPr>
          <p:cNvPr id="31" name="Text 23"/>
          <p:cNvSpPr txBox="1"/>
          <p:nvPr/>
        </p:nvSpPr>
        <p:spPr>
          <a:xfrm>
            <a:off x="7315200" y="3639312"/>
            <a:ext cx="132588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ÉCARTÉES</a:t>
            </a:r>
            <a:endParaRPr lang="en-US" sz="1000" dirty="0"/>
          </a:p>
        </p:txBody>
      </p:sp>
      <p:sp>
        <p:nvSpPr>
          <p:cNvPr id="32" name="Text 24"/>
          <p:cNvSpPr txBox="1"/>
          <p:nvPr/>
        </p:nvSpPr>
        <p:spPr>
          <a:xfrm>
            <a:off x="7315200" y="3858768"/>
            <a:ext cx="1280160" cy="411480"/>
          </a:xfrm>
          <a:prstGeom prst="rect">
            <a:avLst/>
          </a:prstGeom>
          <a:noFill/>
          <a:ln/>
        </p:spPr>
        <p:txBody>
          <a:bodyPr wrap="square" lIns="0" tIns="0" rIns="0" bIns="0" rtlCol="0" anchor="t"/>
          <a:lstStyle/>
          <a:p>
            <a:pPr indent="0" marL="0">
              <a:buNone/>
            </a:pPr>
            <a:r>
              <a:rPr lang="en-US" sz="1200" dirty="0">
                <a:solidFill>
                  <a:schemeClr val="accent4"/>
                </a:solidFill>
              </a:rPr>
              <a:t>Zoom avant</a:t>
            </a:r>
            <a:endParaRPr lang="en-US" sz="1200" dirty="0"/>
          </a:p>
        </p:txBody>
      </p:sp>
      <p:sp>
        <p:nvSpPr>
          <p:cNvPr id="33" name="Text 25"/>
          <p:cNvSpPr txBox="1"/>
          <p:nvPr/>
        </p:nvSpPr>
        <p:spPr>
          <a:xfrm>
            <a:off x="457200" y="4462272"/>
            <a:ext cx="7772400" cy="201168"/>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PLAN B → MODE SOURIS · ENREGISTREMENT D'ÉCRAN DE SECOURS</a:t>
            </a:r>
            <a:endParaRPr lang="en-US" sz="11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03 · L'ARCHITECTURE</a:t>
            </a: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Tout reste dans le navigateur</a:t>
            </a:r>
            <a:endParaRPr lang="en-US" sz="4000" dirty="0"/>
          </a:p>
        </p:txBody>
      </p:sp>
      <p:sp>
        <p:nvSpPr>
          <p:cNvPr id="4" name="Shape 2"/>
          <p:cNvSpPr/>
          <p:nvPr/>
        </p:nvSpPr>
        <p:spPr>
          <a:xfrm>
            <a:off x="1737360" y="1280160"/>
            <a:ext cx="6949440" cy="2514600"/>
          </a:xfrm>
          <a:prstGeom prst="rect">
            <a:avLst/>
          </a:prstGeom>
          <a:solidFill>
            <a:schemeClr val="tx1"/>
          </a:solidFill>
          <a:ln w="15875">
            <a:solidFill>
              <a:schemeClr val="accent1"/>
            </a:solidFill>
            <a:prstDash val="dash"/>
          </a:ln>
        </p:spPr>
      </p:sp>
      <p:sp>
        <p:nvSpPr>
          <p:cNvPr id="5" name="Text 3"/>
          <p:cNvSpPr txBox="1"/>
          <p:nvPr/>
        </p:nvSpPr>
        <p:spPr>
          <a:xfrm>
            <a:off x="1920240" y="1344168"/>
            <a:ext cx="6583680" cy="201168"/>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NAVIGATEUR (CHROME OU EDGE) · SUR L'ORDINATEUR DE L'UTILISATEUR</a:t>
            </a:r>
            <a:endParaRPr lang="en-US" sz="1000" dirty="0"/>
          </a:p>
        </p:txBody>
      </p:sp>
      <p:sp>
        <p:nvSpPr>
          <p:cNvPr id="6" name="Shape 4"/>
          <p:cNvSpPr/>
          <p:nvPr/>
        </p:nvSpPr>
        <p:spPr>
          <a:xfrm>
            <a:off x="457200" y="1645920"/>
            <a:ext cx="1097280" cy="822960"/>
          </a:xfrm>
          <a:prstGeom prst="rect">
            <a:avLst/>
          </a:prstGeom>
          <a:solidFill>
            <a:schemeClr val="tx2"/>
          </a:solidFill>
          <a:ln w="12700">
            <a:solidFill>
              <a:schemeClr val="accent5"/>
            </a:solidFill>
            <a:prstDash val="solid"/>
          </a:ln>
        </p:spPr>
      </p:sp>
      <p:sp>
        <p:nvSpPr>
          <p:cNvPr id="7" name="Text 5"/>
          <p:cNvSpPr txBox="1"/>
          <p:nvPr/>
        </p:nvSpPr>
        <p:spPr>
          <a:xfrm>
            <a:off x="594360" y="1737360"/>
            <a:ext cx="822960" cy="256032"/>
          </a:xfrm>
          <a:prstGeom prst="rect">
            <a:avLst/>
          </a:prstGeom>
          <a:noFill/>
          <a:ln/>
        </p:spPr>
        <p:txBody>
          <a:bodyPr wrap="square" lIns="0" tIns="0" rIns="0" bIns="0" rtlCol="0" anchor="t"/>
          <a:lstStyle/>
          <a:p>
            <a:pPr indent="0" marL="0">
              <a:buNone/>
            </a:pPr>
            <a:r>
              <a:rPr lang="en-US" sz="1400" b="1" dirty="0">
                <a:solidFill>
                  <a:schemeClr val="bg1"/>
                </a:solidFill>
              </a:rPr>
              <a:t>Webcam</a:t>
            </a:r>
            <a:endParaRPr lang="en-US" sz="1400" dirty="0"/>
          </a:p>
        </p:txBody>
      </p:sp>
      <p:sp>
        <p:nvSpPr>
          <p:cNvPr id="8" name="Text 6"/>
          <p:cNvSpPr txBox="1"/>
          <p:nvPr/>
        </p:nvSpPr>
        <p:spPr>
          <a:xfrm>
            <a:off x="594360" y="2011680"/>
            <a:ext cx="82296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flux vidéo</a:t>
            </a:r>
            <a:endParaRPr lang="en-US" sz="1000" dirty="0"/>
          </a:p>
        </p:txBody>
      </p:sp>
      <p:sp>
        <p:nvSpPr>
          <p:cNvPr id="9" name="Shape 7"/>
          <p:cNvSpPr/>
          <p:nvPr/>
        </p:nvSpPr>
        <p:spPr>
          <a:xfrm>
            <a:off x="1920240" y="1645920"/>
            <a:ext cx="1920240" cy="822960"/>
          </a:xfrm>
          <a:prstGeom prst="rect">
            <a:avLst/>
          </a:prstGeom>
          <a:solidFill>
            <a:schemeClr val="tx2"/>
          </a:solidFill>
          <a:ln w="12700">
            <a:solidFill>
              <a:schemeClr val="accent5"/>
            </a:solidFill>
            <a:prstDash val="solid"/>
          </a:ln>
        </p:spPr>
      </p:sp>
      <p:sp>
        <p:nvSpPr>
          <p:cNvPr id="10" name="Text 8"/>
          <p:cNvSpPr txBox="1"/>
          <p:nvPr/>
        </p:nvSpPr>
        <p:spPr>
          <a:xfrm>
            <a:off x="2057400" y="1737360"/>
            <a:ext cx="1645920" cy="256032"/>
          </a:xfrm>
          <a:prstGeom prst="rect">
            <a:avLst/>
          </a:prstGeom>
          <a:noFill/>
          <a:ln/>
        </p:spPr>
        <p:txBody>
          <a:bodyPr wrap="square" lIns="0" tIns="0" rIns="0" bIns="0" rtlCol="0" anchor="t"/>
          <a:lstStyle/>
          <a:p>
            <a:pPr indent="0" marL="0">
              <a:buNone/>
            </a:pPr>
            <a:r>
              <a:rPr lang="en-US" sz="1400" b="1" dirty="0">
                <a:solidFill>
                  <a:schemeClr val="bg1"/>
                </a:solidFill>
              </a:rPr>
              <a:t>Détection</a:t>
            </a:r>
            <a:endParaRPr lang="en-US" sz="1400" dirty="0"/>
          </a:p>
        </p:txBody>
      </p:sp>
      <p:sp>
        <p:nvSpPr>
          <p:cNvPr id="11" name="Text 9"/>
          <p:cNvSpPr txBox="1"/>
          <p:nvPr/>
        </p:nvSpPr>
        <p:spPr>
          <a:xfrm>
            <a:off x="2057400" y="201168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MediaPipe</a:t>
            </a:r>
            <a:endParaRPr lang="en-US" sz="1000" dirty="0"/>
          </a:p>
        </p:txBody>
      </p:sp>
      <p:sp>
        <p:nvSpPr>
          <p:cNvPr id="12" name="Text 10"/>
          <p:cNvSpPr txBox="1"/>
          <p:nvPr/>
        </p:nvSpPr>
        <p:spPr>
          <a:xfrm>
            <a:off x="2057400" y="219456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21 points / main</a:t>
            </a:r>
            <a:endParaRPr lang="en-US" sz="1000" dirty="0"/>
          </a:p>
        </p:txBody>
      </p:sp>
      <p:sp>
        <p:nvSpPr>
          <p:cNvPr id="13" name="Shape 11"/>
          <p:cNvSpPr/>
          <p:nvPr/>
        </p:nvSpPr>
        <p:spPr>
          <a:xfrm>
            <a:off x="4251960" y="1645920"/>
            <a:ext cx="1920240" cy="822960"/>
          </a:xfrm>
          <a:prstGeom prst="rect">
            <a:avLst/>
          </a:prstGeom>
          <a:solidFill>
            <a:schemeClr val="tx2"/>
          </a:solidFill>
          <a:ln w="12700">
            <a:solidFill>
              <a:schemeClr val="accent5"/>
            </a:solidFill>
            <a:prstDash val="solid"/>
          </a:ln>
        </p:spPr>
      </p:sp>
      <p:sp>
        <p:nvSpPr>
          <p:cNvPr id="14" name="Text 12"/>
          <p:cNvSpPr txBox="1"/>
          <p:nvPr/>
        </p:nvSpPr>
        <p:spPr>
          <a:xfrm>
            <a:off x="4389120" y="1737360"/>
            <a:ext cx="1645920" cy="256032"/>
          </a:xfrm>
          <a:prstGeom prst="rect">
            <a:avLst/>
          </a:prstGeom>
          <a:noFill/>
          <a:ln/>
        </p:spPr>
        <p:txBody>
          <a:bodyPr wrap="square" lIns="0" tIns="0" rIns="0" bIns="0" rtlCol="0" anchor="t"/>
          <a:lstStyle/>
          <a:p>
            <a:pPr indent="0" marL="0">
              <a:buNone/>
            </a:pPr>
            <a:r>
              <a:rPr lang="en-US" sz="1400" b="1" dirty="0">
                <a:solidFill>
                  <a:schemeClr val="bg1"/>
                </a:solidFill>
              </a:rPr>
              <a:t>Gestes</a:t>
            </a:r>
            <a:endParaRPr lang="en-US" sz="1400" dirty="0"/>
          </a:p>
        </p:txBody>
      </p:sp>
      <p:sp>
        <p:nvSpPr>
          <p:cNvPr id="15" name="Text 13"/>
          <p:cNvSpPr txBox="1"/>
          <p:nvPr/>
        </p:nvSpPr>
        <p:spPr>
          <a:xfrm>
            <a:off x="4389120" y="201168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règles</a:t>
            </a:r>
            <a:endParaRPr lang="en-US" sz="1000" dirty="0"/>
          </a:p>
        </p:txBody>
      </p:sp>
      <p:sp>
        <p:nvSpPr>
          <p:cNvPr id="16" name="Text 14"/>
          <p:cNvSpPr txBox="1"/>
          <p:nvPr/>
        </p:nvSpPr>
        <p:spPr>
          <a:xfrm>
            <a:off x="4389120" y="219456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sur les doigts</a:t>
            </a:r>
            <a:endParaRPr lang="en-US" sz="1000" dirty="0"/>
          </a:p>
        </p:txBody>
      </p:sp>
      <p:sp>
        <p:nvSpPr>
          <p:cNvPr id="17" name="Shape 15"/>
          <p:cNvSpPr/>
          <p:nvPr/>
        </p:nvSpPr>
        <p:spPr>
          <a:xfrm>
            <a:off x="6583680" y="1645920"/>
            <a:ext cx="1920240" cy="822960"/>
          </a:xfrm>
          <a:prstGeom prst="rect">
            <a:avLst/>
          </a:prstGeom>
          <a:solidFill>
            <a:schemeClr val="tx2"/>
          </a:solidFill>
          <a:ln w="12700">
            <a:solidFill>
              <a:schemeClr val="accent5"/>
            </a:solidFill>
            <a:prstDash val="solid"/>
          </a:ln>
        </p:spPr>
      </p:sp>
      <p:sp>
        <p:nvSpPr>
          <p:cNvPr id="18" name="Text 16"/>
          <p:cNvSpPr txBox="1"/>
          <p:nvPr/>
        </p:nvSpPr>
        <p:spPr>
          <a:xfrm>
            <a:off x="6720840" y="1737360"/>
            <a:ext cx="1645920" cy="256032"/>
          </a:xfrm>
          <a:prstGeom prst="rect">
            <a:avLst/>
          </a:prstGeom>
          <a:noFill/>
          <a:ln/>
        </p:spPr>
        <p:txBody>
          <a:bodyPr wrap="square" lIns="0" tIns="0" rIns="0" bIns="0" rtlCol="0" anchor="t"/>
          <a:lstStyle/>
          <a:p>
            <a:pPr indent="0" marL="0">
              <a:buNone/>
            </a:pPr>
            <a:r>
              <a:rPr lang="en-US" sz="1400" b="1" dirty="0">
                <a:solidFill>
                  <a:schemeClr val="bg1"/>
                </a:solidFill>
              </a:rPr>
              <a:t>Actions</a:t>
            </a:r>
            <a:endParaRPr lang="en-US" sz="1400" dirty="0"/>
          </a:p>
        </p:txBody>
      </p:sp>
      <p:sp>
        <p:nvSpPr>
          <p:cNvPr id="19" name="Text 17"/>
          <p:cNvSpPr txBox="1"/>
          <p:nvPr/>
        </p:nvSpPr>
        <p:spPr>
          <a:xfrm>
            <a:off x="6720840" y="201168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mêmes commandes</a:t>
            </a:r>
            <a:endParaRPr lang="en-US" sz="1000" dirty="0"/>
          </a:p>
        </p:txBody>
      </p:sp>
      <p:sp>
        <p:nvSpPr>
          <p:cNvPr id="20" name="Text 18"/>
          <p:cNvSpPr txBox="1"/>
          <p:nvPr/>
        </p:nvSpPr>
        <p:spPr>
          <a:xfrm>
            <a:off x="6720840" y="219456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geste ET souris</a:t>
            </a:r>
            <a:endParaRPr lang="en-US" sz="1000" dirty="0"/>
          </a:p>
        </p:txBody>
      </p:sp>
      <p:sp>
        <p:nvSpPr>
          <p:cNvPr id="21" name="Shape 19"/>
          <p:cNvSpPr/>
          <p:nvPr/>
        </p:nvSpPr>
        <p:spPr>
          <a:xfrm>
            <a:off x="1920240" y="2788920"/>
            <a:ext cx="1920240" cy="822960"/>
          </a:xfrm>
          <a:prstGeom prst="rect">
            <a:avLst/>
          </a:prstGeom>
          <a:solidFill>
            <a:schemeClr val="tx2"/>
          </a:solidFill>
          <a:ln w="12700">
            <a:solidFill>
              <a:schemeClr val="accent5"/>
            </a:solidFill>
            <a:prstDash val="solid"/>
          </a:ln>
        </p:spPr>
      </p:sp>
      <p:sp>
        <p:nvSpPr>
          <p:cNvPr id="22" name="Text 20"/>
          <p:cNvSpPr txBox="1"/>
          <p:nvPr/>
        </p:nvSpPr>
        <p:spPr>
          <a:xfrm>
            <a:off x="2057400" y="2880360"/>
            <a:ext cx="1645920" cy="256032"/>
          </a:xfrm>
          <a:prstGeom prst="rect">
            <a:avLst/>
          </a:prstGeom>
          <a:noFill/>
          <a:ln/>
        </p:spPr>
        <p:txBody>
          <a:bodyPr wrap="square" lIns="0" tIns="0" rIns="0" bIns="0" rtlCol="0" anchor="t"/>
          <a:lstStyle/>
          <a:p>
            <a:pPr indent="0" marL="0">
              <a:buNone/>
            </a:pPr>
            <a:r>
              <a:rPr lang="en-US" sz="1400" b="1" dirty="0">
                <a:solidFill>
                  <a:schemeClr val="bg1"/>
                </a:solidFill>
              </a:rPr>
              <a:t>Souris, clavier</a:t>
            </a:r>
            <a:endParaRPr lang="en-US" sz="1400" dirty="0"/>
          </a:p>
        </p:txBody>
      </p:sp>
      <p:sp>
        <p:nvSpPr>
          <p:cNvPr id="23" name="Text 21"/>
          <p:cNvSpPr txBox="1"/>
          <p:nvPr/>
        </p:nvSpPr>
        <p:spPr>
          <a:xfrm>
            <a:off x="2057400" y="315468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mode de secours</a:t>
            </a:r>
            <a:endParaRPr lang="en-US" sz="1000" dirty="0"/>
          </a:p>
        </p:txBody>
      </p:sp>
      <p:sp>
        <p:nvSpPr>
          <p:cNvPr id="24" name="Shape 22"/>
          <p:cNvSpPr/>
          <p:nvPr/>
        </p:nvSpPr>
        <p:spPr>
          <a:xfrm>
            <a:off x="4251960" y="2788920"/>
            <a:ext cx="1920240" cy="822960"/>
          </a:xfrm>
          <a:prstGeom prst="rect">
            <a:avLst/>
          </a:prstGeom>
          <a:solidFill>
            <a:schemeClr val="tx2"/>
          </a:solidFill>
          <a:ln w="12700">
            <a:solidFill>
              <a:schemeClr val="accent5"/>
            </a:solidFill>
            <a:prstDash val="solid"/>
          </a:ln>
        </p:spPr>
      </p:sp>
      <p:sp>
        <p:nvSpPr>
          <p:cNvPr id="25" name="Text 23"/>
          <p:cNvSpPr txBox="1"/>
          <p:nvPr/>
        </p:nvSpPr>
        <p:spPr>
          <a:xfrm>
            <a:off x="4389120" y="2880360"/>
            <a:ext cx="1645920" cy="256032"/>
          </a:xfrm>
          <a:prstGeom prst="rect">
            <a:avLst/>
          </a:prstGeom>
          <a:noFill/>
          <a:ln/>
        </p:spPr>
        <p:txBody>
          <a:bodyPr wrap="square" lIns="0" tIns="0" rIns="0" bIns="0" rtlCol="0" anchor="t"/>
          <a:lstStyle/>
          <a:p>
            <a:pPr indent="0" marL="0">
              <a:buNone/>
            </a:pPr>
            <a:r>
              <a:rPr lang="en-US" sz="1400" b="1" dirty="0">
                <a:solidFill>
                  <a:schemeClr val="bg1"/>
                </a:solidFill>
              </a:rPr>
              <a:t>Données</a:t>
            </a:r>
            <a:endParaRPr lang="en-US" sz="1400" dirty="0"/>
          </a:p>
        </p:txBody>
      </p:sp>
      <p:sp>
        <p:nvSpPr>
          <p:cNvPr id="26" name="Text 24"/>
          <p:cNvSpPr txBox="1"/>
          <p:nvPr/>
        </p:nvSpPr>
        <p:spPr>
          <a:xfrm>
            <a:off x="4389120" y="315468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10 équipements</a:t>
            </a:r>
            <a:endParaRPr lang="en-US" sz="1000" dirty="0"/>
          </a:p>
        </p:txBody>
      </p:sp>
      <p:sp>
        <p:nvSpPr>
          <p:cNvPr id="27" name="Text 25"/>
          <p:cNvSpPr txBox="1"/>
          <p:nvPr/>
        </p:nvSpPr>
        <p:spPr>
          <a:xfrm>
            <a:off x="4389120" y="333756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pièces et fiches</a:t>
            </a:r>
            <a:endParaRPr lang="en-US" sz="1000" dirty="0"/>
          </a:p>
        </p:txBody>
      </p:sp>
      <p:sp>
        <p:nvSpPr>
          <p:cNvPr id="28" name="Shape 26"/>
          <p:cNvSpPr/>
          <p:nvPr/>
        </p:nvSpPr>
        <p:spPr>
          <a:xfrm>
            <a:off x="6583680" y="2788920"/>
            <a:ext cx="1920240" cy="822960"/>
          </a:xfrm>
          <a:prstGeom prst="rect">
            <a:avLst/>
          </a:prstGeom>
          <a:solidFill>
            <a:schemeClr val="tx2"/>
          </a:solidFill>
          <a:ln w="12700">
            <a:solidFill>
              <a:schemeClr val="accent5"/>
            </a:solidFill>
            <a:prstDash val="solid"/>
          </a:ln>
        </p:spPr>
      </p:sp>
      <p:sp>
        <p:nvSpPr>
          <p:cNvPr id="29" name="Text 27"/>
          <p:cNvSpPr txBox="1"/>
          <p:nvPr/>
        </p:nvSpPr>
        <p:spPr>
          <a:xfrm>
            <a:off x="6720840" y="2880360"/>
            <a:ext cx="1645920" cy="256032"/>
          </a:xfrm>
          <a:prstGeom prst="rect">
            <a:avLst/>
          </a:prstGeom>
          <a:noFill/>
          <a:ln/>
        </p:spPr>
        <p:txBody>
          <a:bodyPr wrap="square" lIns="0" tIns="0" rIns="0" bIns="0" rtlCol="0" anchor="t"/>
          <a:lstStyle/>
          <a:p>
            <a:pPr indent="0" marL="0">
              <a:buNone/>
            </a:pPr>
            <a:r>
              <a:rPr lang="en-US" sz="1400" b="1" dirty="0">
                <a:solidFill>
                  <a:schemeClr val="bg1"/>
                </a:solidFill>
              </a:rPr>
              <a:t>Scène 3D</a:t>
            </a:r>
            <a:endParaRPr lang="en-US" sz="1400" dirty="0"/>
          </a:p>
        </p:txBody>
      </p:sp>
      <p:sp>
        <p:nvSpPr>
          <p:cNvPr id="30" name="Text 28"/>
          <p:cNvSpPr txBox="1"/>
          <p:nvPr/>
        </p:nvSpPr>
        <p:spPr>
          <a:xfrm>
            <a:off x="6720840" y="315468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Three.js</a:t>
            </a:r>
            <a:endParaRPr lang="en-US" sz="1000" dirty="0"/>
          </a:p>
        </p:txBody>
      </p:sp>
      <p:sp>
        <p:nvSpPr>
          <p:cNvPr id="31" name="Text 29"/>
          <p:cNvSpPr txBox="1"/>
          <p:nvPr/>
        </p:nvSpPr>
        <p:spPr>
          <a:xfrm>
            <a:off x="6720840" y="3337560"/>
            <a:ext cx="164592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éclatée, transparence</a:t>
            </a:r>
            <a:endParaRPr lang="en-US" sz="1000" dirty="0"/>
          </a:p>
        </p:txBody>
      </p:sp>
      <p:sp>
        <p:nvSpPr>
          <p:cNvPr id="32" name="Shape 30"/>
          <p:cNvSpPr/>
          <p:nvPr/>
        </p:nvSpPr>
        <p:spPr>
          <a:xfrm>
            <a:off x="1920240" y="4069080"/>
            <a:ext cx="3931920" cy="640080"/>
          </a:xfrm>
          <a:prstGeom prst="rect">
            <a:avLst/>
          </a:prstGeom>
          <a:solidFill>
            <a:schemeClr val="tx2"/>
          </a:solidFill>
          <a:ln w="12700">
            <a:solidFill>
              <a:schemeClr val="accent5"/>
            </a:solidFill>
            <a:prstDash val="dash"/>
          </a:ln>
        </p:spPr>
      </p:sp>
      <p:sp>
        <p:nvSpPr>
          <p:cNvPr id="33" name="Text 31"/>
          <p:cNvSpPr txBox="1"/>
          <p:nvPr/>
        </p:nvSpPr>
        <p:spPr>
          <a:xfrm>
            <a:off x="2057400" y="4160520"/>
            <a:ext cx="3657600" cy="256032"/>
          </a:xfrm>
          <a:prstGeom prst="rect">
            <a:avLst/>
          </a:prstGeom>
          <a:noFill/>
          <a:ln/>
        </p:spPr>
        <p:txBody>
          <a:bodyPr wrap="square" lIns="0" tIns="0" rIns="0" bIns="0" rtlCol="0" anchor="t"/>
          <a:lstStyle/>
          <a:p>
            <a:pPr indent="0" marL="0">
              <a:buNone/>
            </a:pPr>
            <a:r>
              <a:rPr lang="en-US" sz="1400" b="1" dirty="0">
                <a:solidFill>
                  <a:schemeClr val="bg1"/>
                </a:solidFill>
              </a:rPr>
              <a:t>Internet (CDN)</a:t>
            </a:r>
            <a:endParaRPr lang="en-US" sz="1400" dirty="0"/>
          </a:p>
        </p:txBody>
      </p:sp>
      <p:sp>
        <p:nvSpPr>
          <p:cNvPr id="34" name="Text 32"/>
          <p:cNvSpPr txBox="1"/>
          <p:nvPr/>
        </p:nvSpPr>
        <p:spPr>
          <a:xfrm>
            <a:off x="2057400" y="4434840"/>
            <a:ext cx="365760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Three.js · MediaPipe · modèle de la main</a:t>
            </a:r>
            <a:endParaRPr lang="en-US" sz="1000" dirty="0"/>
          </a:p>
        </p:txBody>
      </p:sp>
      <p:sp>
        <p:nvSpPr>
          <p:cNvPr id="35" name="Shape 33"/>
          <p:cNvSpPr/>
          <p:nvPr/>
        </p:nvSpPr>
        <p:spPr>
          <a:xfrm>
            <a:off x="1554480" y="2057400"/>
            <a:ext cx="365760" cy="0"/>
          </a:xfrm>
          <a:prstGeom prst="line">
            <a:avLst/>
          </a:prstGeom>
          <a:noFill/>
          <a:ln w="15875">
            <a:solidFill>
              <a:schemeClr val="bg1"/>
            </a:solidFill>
            <a:prstDash val="solid"/>
            <a:tailEnd type="triangle"/>
          </a:ln>
        </p:spPr>
      </p:sp>
      <p:sp>
        <p:nvSpPr>
          <p:cNvPr id="36" name="Shape 34"/>
          <p:cNvSpPr/>
          <p:nvPr/>
        </p:nvSpPr>
        <p:spPr>
          <a:xfrm>
            <a:off x="3840480" y="2057400"/>
            <a:ext cx="411480" cy="0"/>
          </a:xfrm>
          <a:prstGeom prst="line">
            <a:avLst/>
          </a:prstGeom>
          <a:noFill/>
          <a:ln w="15875">
            <a:solidFill>
              <a:schemeClr val="bg1"/>
            </a:solidFill>
            <a:prstDash val="solid"/>
            <a:tailEnd type="triangle"/>
          </a:ln>
        </p:spPr>
      </p:sp>
      <p:sp>
        <p:nvSpPr>
          <p:cNvPr id="37" name="Shape 35"/>
          <p:cNvSpPr/>
          <p:nvPr/>
        </p:nvSpPr>
        <p:spPr>
          <a:xfrm>
            <a:off x="6172200" y="2057400"/>
            <a:ext cx="411480" cy="0"/>
          </a:xfrm>
          <a:prstGeom prst="line">
            <a:avLst/>
          </a:prstGeom>
          <a:noFill/>
          <a:ln w="15875">
            <a:solidFill>
              <a:schemeClr val="bg1"/>
            </a:solidFill>
            <a:prstDash val="solid"/>
            <a:tailEnd type="triangle"/>
          </a:ln>
        </p:spPr>
      </p:sp>
      <p:sp>
        <p:nvSpPr>
          <p:cNvPr id="38" name="Shape 36"/>
          <p:cNvSpPr/>
          <p:nvPr/>
        </p:nvSpPr>
        <p:spPr>
          <a:xfrm>
            <a:off x="6172200" y="3200400"/>
            <a:ext cx="411480" cy="0"/>
          </a:xfrm>
          <a:prstGeom prst="line">
            <a:avLst/>
          </a:prstGeom>
          <a:noFill/>
          <a:ln w="15875">
            <a:solidFill>
              <a:schemeClr val="bg1"/>
            </a:solidFill>
            <a:prstDash val="solid"/>
            <a:tailEnd type="triangle"/>
          </a:ln>
        </p:spPr>
      </p:sp>
      <p:sp>
        <p:nvSpPr>
          <p:cNvPr id="39" name="Shape 37"/>
          <p:cNvSpPr/>
          <p:nvPr/>
        </p:nvSpPr>
        <p:spPr>
          <a:xfrm>
            <a:off x="7772400" y="2468880"/>
            <a:ext cx="0" cy="320040"/>
          </a:xfrm>
          <a:prstGeom prst="line">
            <a:avLst/>
          </a:prstGeom>
          <a:noFill/>
          <a:ln w="15875">
            <a:solidFill>
              <a:schemeClr val="bg1"/>
            </a:solidFill>
            <a:prstDash val="solid"/>
            <a:tailEnd type="triangle"/>
          </a:ln>
        </p:spPr>
      </p:sp>
      <p:sp>
        <p:nvSpPr>
          <p:cNvPr id="40" name="Shape 38"/>
          <p:cNvSpPr/>
          <p:nvPr/>
        </p:nvSpPr>
        <p:spPr>
          <a:xfrm>
            <a:off x="2880360" y="2624328"/>
            <a:ext cx="0" cy="164592"/>
          </a:xfrm>
          <a:prstGeom prst="line">
            <a:avLst/>
          </a:prstGeom>
          <a:noFill/>
          <a:ln w="15875">
            <a:solidFill>
              <a:schemeClr val="bg1"/>
            </a:solidFill>
            <a:prstDash val="solid"/>
          </a:ln>
        </p:spPr>
      </p:sp>
      <p:sp>
        <p:nvSpPr>
          <p:cNvPr id="41" name="Shape 39"/>
          <p:cNvSpPr/>
          <p:nvPr/>
        </p:nvSpPr>
        <p:spPr>
          <a:xfrm>
            <a:off x="2880360" y="2624328"/>
            <a:ext cx="4069080" cy="0"/>
          </a:xfrm>
          <a:prstGeom prst="line">
            <a:avLst/>
          </a:prstGeom>
          <a:noFill/>
          <a:ln w="15875">
            <a:solidFill>
              <a:schemeClr val="bg1"/>
            </a:solidFill>
            <a:prstDash val="solid"/>
          </a:ln>
        </p:spPr>
      </p:sp>
      <p:sp>
        <p:nvSpPr>
          <p:cNvPr id="42" name="Shape 40"/>
          <p:cNvSpPr/>
          <p:nvPr/>
        </p:nvSpPr>
        <p:spPr>
          <a:xfrm>
            <a:off x="6949440" y="2468880"/>
            <a:ext cx="0" cy="155448"/>
          </a:xfrm>
          <a:prstGeom prst="line">
            <a:avLst/>
          </a:prstGeom>
          <a:noFill/>
          <a:ln w="15875">
            <a:solidFill>
              <a:schemeClr val="bg1"/>
            </a:solidFill>
            <a:prstDash val="solid"/>
            <a:headEnd type="triangle"/>
          </a:ln>
        </p:spPr>
      </p:sp>
      <p:sp>
        <p:nvSpPr>
          <p:cNvPr id="43" name="Shape 41"/>
          <p:cNvSpPr/>
          <p:nvPr/>
        </p:nvSpPr>
        <p:spPr>
          <a:xfrm>
            <a:off x="3108960" y="3794760"/>
            <a:ext cx="0" cy="274320"/>
          </a:xfrm>
          <a:prstGeom prst="line">
            <a:avLst/>
          </a:prstGeom>
          <a:noFill/>
          <a:ln w="15875">
            <a:solidFill>
              <a:schemeClr val="accent2"/>
            </a:solidFill>
            <a:prstDash val="dash"/>
            <a:headEnd type="triangle"/>
          </a:ln>
        </p:spPr>
      </p:sp>
      <p:sp>
        <p:nvSpPr>
          <p:cNvPr id="44" name="Text 42"/>
          <p:cNvSpPr txBox="1"/>
          <p:nvPr/>
        </p:nvSpPr>
        <p:spPr>
          <a:xfrm>
            <a:off x="3246120" y="3858768"/>
            <a:ext cx="219456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CHARGEMENT INITIAL</a:t>
            </a:r>
            <a:endParaRPr lang="en-US" sz="1000" dirty="0"/>
          </a:p>
        </p:txBody>
      </p:sp>
      <p:sp>
        <p:nvSpPr>
          <p:cNvPr id="45" name="Text 43"/>
          <p:cNvSpPr txBox="1"/>
          <p:nvPr/>
        </p:nvSpPr>
        <p:spPr>
          <a:xfrm>
            <a:off x="6126480" y="4069080"/>
            <a:ext cx="2560320" cy="640080"/>
          </a:xfrm>
          <a:prstGeom prst="rect">
            <a:avLst/>
          </a:prstGeom>
          <a:noFill/>
          <a:ln/>
        </p:spPr>
        <p:txBody>
          <a:bodyPr wrap="square" lIns="0" tIns="0" rIns="0" bIns="0" rtlCol="0" anchor="ctr"/>
          <a:lstStyle/>
          <a:p>
            <a:pPr indent="0" marL="0">
              <a:buNone/>
            </a:pPr>
            <a:r>
              <a:rPr lang="en-US" sz="1400" b="1" dirty="0">
                <a:solidFill>
                  <a:schemeClr val="accent1"/>
                </a:solidFill>
              </a:rPr>
              <a:t>Aucune image de la caméra n'est envoyée sur internet.</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04 · L'ANALYSE CRITIQUE</a:t>
            </a: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Ce que l'IA recommande</a:t>
            </a:r>
            <a:endParaRPr lang="en-US" sz="4000" dirty="0"/>
          </a:p>
        </p:txBody>
      </p:sp>
      <p:sp>
        <p:nvSpPr>
          <p:cNvPr id="4" name="Text 2"/>
          <p:cNvSpPr txBox="1"/>
          <p:nvPr/>
        </p:nvSpPr>
        <p:spPr>
          <a:xfrm>
            <a:off x="365760" y="1234440"/>
            <a:ext cx="3657600" cy="1920240"/>
          </a:xfrm>
          <a:prstGeom prst="rect">
            <a:avLst/>
          </a:prstGeom>
          <a:noFill/>
          <a:ln/>
        </p:spPr>
        <p:txBody>
          <a:bodyPr wrap="square" lIns="0" tIns="0" rIns="0" bIns="0" rtlCol="0" anchor="ctr"/>
          <a:lstStyle/>
          <a:p>
            <a:pPr indent="0" marL="0">
              <a:buNone/>
            </a:pPr>
            <a:r>
              <a:rPr lang="en-US" sz="11000" b="1" dirty="0">
                <a:solidFill>
                  <a:schemeClr val="accent1"/>
                </a:solidFill>
              </a:rPr>
              <a:t>5/7</a:t>
            </a:r>
            <a:endParaRPr lang="en-US" sz="11000" dirty="0"/>
          </a:p>
        </p:txBody>
      </p:sp>
      <p:sp>
        <p:nvSpPr>
          <p:cNvPr id="5" name="Text 3"/>
          <p:cNvSpPr txBox="1"/>
          <p:nvPr/>
        </p:nvSpPr>
        <p:spPr>
          <a:xfrm>
            <a:off x="457200" y="3246120"/>
            <a:ext cx="3474720" cy="201168"/>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RECOMMANDATIONS SUIVIES</a:t>
            </a:r>
            <a:endParaRPr lang="en-US" sz="1100" dirty="0"/>
          </a:p>
        </p:txBody>
      </p:sp>
      <p:sp>
        <p:nvSpPr>
          <p:cNvPr id="6" name="Text 4"/>
          <p:cNvSpPr txBox="1"/>
          <p:nvPr/>
        </p:nvSpPr>
        <p:spPr>
          <a:xfrm>
            <a:off x="457200" y="3566160"/>
            <a:ext cx="3291840" cy="320040"/>
          </a:xfrm>
          <a:prstGeom prst="rect">
            <a:avLst/>
          </a:prstGeom>
          <a:noFill/>
          <a:ln/>
        </p:spPr>
        <p:txBody>
          <a:bodyPr wrap="square" lIns="0" tIns="0" rIns="0" bIns="0" rtlCol="0" anchor="t"/>
          <a:lstStyle/>
          <a:p>
            <a:pPr indent="0" marL="0">
              <a:buNone/>
            </a:pPr>
            <a:r>
              <a:rPr lang="en-US" sz="1600" i="1" dirty="0">
                <a:solidFill>
                  <a:schemeClr val="accent4"/>
                </a:solidFill>
              </a:rPr>
              <a:t>On mesure avant d'optimiser.</a:t>
            </a:r>
            <a:endParaRPr lang="en-US" sz="1600" dirty="0"/>
          </a:p>
        </p:txBody>
      </p:sp>
      <p:sp>
        <p:nvSpPr>
          <p:cNvPr id="7" name="Shape 5"/>
          <p:cNvSpPr/>
          <p:nvPr/>
        </p:nvSpPr>
        <p:spPr>
          <a:xfrm>
            <a:off x="4297680" y="1435608"/>
            <a:ext cx="146304" cy="146304"/>
          </a:xfrm>
          <a:prstGeom prst="ellipse">
            <a:avLst/>
          </a:prstGeom>
          <a:solidFill>
            <a:schemeClr val="accent1"/>
          </a:solidFill>
          <a:ln w="19050">
            <a:solidFill>
              <a:schemeClr val="accent1"/>
            </a:solidFill>
            <a:prstDash val="solid"/>
          </a:ln>
        </p:spPr>
      </p:sp>
      <p:sp>
        <p:nvSpPr>
          <p:cNvPr id="8" name="Text 6"/>
          <p:cNvSpPr txBox="1"/>
          <p:nvPr/>
        </p:nvSpPr>
        <p:spPr>
          <a:xfrm>
            <a:off x="4617720" y="1325880"/>
            <a:ext cx="3200400" cy="365760"/>
          </a:xfrm>
          <a:prstGeom prst="rect">
            <a:avLst/>
          </a:prstGeom>
          <a:noFill/>
          <a:ln/>
        </p:spPr>
        <p:txBody>
          <a:bodyPr wrap="square" lIns="0" tIns="0" rIns="0" bIns="0" rtlCol="0" anchor="ctr"/>
          <a:lstStyle/>
          <a:p>
            <a:pPr indent="0" marL="0">
              <a:buNone/>
            </a:pPr>
            <a:r>
              <a:rPr lang="en-US" sz="1400" dirty="0">
                <a:solidFill>
                  <a:schemeClr val="bg1"/>
                </a:solidFill>
              </a:rPr>
              <a:t>Découper le code en modules</a:t>
            </a:r>
            <a:endParaRPr lang="en-US" sz="1400" dirty="0"/>
          </a:p>
        </p:txBody>
      </p:sp>
      <p:sp>
        <p:nvSpPr>
          <p:cNvPr id="9" name="Text 7"/>
          <p:cNvSpPr txBox="1"/>
          <p:nvPr/>
        </p:nvSpPr>
        <p:spPr>
          <a:xfrm>
            <a:off x="7772400" y="1325880"/>
            <a:ext cx="914400" cy="365760"/>
          </a:xfrm>
          <a:prstGeom prst="rect">
            <a:avLst/>
          </a:prstGeom>
          <a:noFill/>
          <a:ln/>
        </p:spPr>
        <p:txBody>
          <a:bodyPr wrap="square" lIns="0" tIns="0" rIns="0" bIns="0" rtlCol="0" anchor="ctr"/>
          <a:lstStyle/>
          <a:p>
            <a:pPr algn="r" indent="0" marL="0">
              <a:buNone/>
            </a:pPr>
            <a:r>
              <a:rPr lang="en-US" sz="1000" b="1" dirty="0">
                <a:solidFill>
                  <a:schemeClr val="accent1"/>
                </a:solidFill>
                <a:latin typeface="Courier New" pitchFamily="34" charset="0"/>
                <a:ea typeface="Courier New" pitchFamily="34" charset="-122"/>
                <a:cs typeface="Courier New" pitchFamily="34" charset="-120"/>
              </a:rPr>
              <a:t>SUIVI</a:t>
            </a:r>
            <a:endParaRPr lang="en-US" sz="1000" dirty="0"/>
          </a:p>
        </p:txBody>
      </p:sp>
      <p:sp>
        <p:nvSpPr>
          <p:cNvPr id="10" name="Shape 8"/>
          <p:cNvSpPr/>
          <p:nvPr/>
        </p:nvSpPr>
        <p:spPr>
          <a:xfrm>
            <a:off x="4297680" y="1911096"/>
            <a:ext cx="146304" cy="146304"/>
          </a:xfrm>
          <a:prstGeom prst="ellipse">
            <a:avLst/>
          </a:prstGeom>
          <a:solidFill>
            <a:schemeClr val="accent1"/>
          </a:solidFill>
          <a:ln w="19050">
            <a:solidFill>
              <a:schemeClr val="accent1"/>
            </a:solidFill>
            <a:prstDash val="solid"/>
          </a:ln>
        </p:spPr>
      </p:sp>
      <p:sp>
        <p:nvSpPr>
          <p:cNvPr id="11" name="Text 9"/>
          <p:cNvSpPr txBox="1"/>
          <p:nvPr/>
        </p:nvSpPr>
        <p:spPr>
          <a:xfrm>
            <a:off x="4617720" y="1801368"/>
            <a:ext cx="3200400" cy="365760"/>
          </a:xfrm>
          <a:prstGeom prst="rect">
            <a:avLst/>
          </a:prstGeom>
          <a:noFill/>
          <a:ln/>
        </p:spPr>
        <p:txBody>
          <a:bodyPr wrap="square" lIns="0" tIns="0" rIns="0" bIns="0" rtlCol="0" anchor="ctr"/>
          <a:lstStyle/>
          <a:p>
            <a:pPr indent="0" marL="0">
              <a:buNone/>
            </a:pPr>
            <a:r>
              <a:rPr lang="en-US" sz="1400" dirty="0">
                <a:solidFill>
                  <a:schemeClr val="bg1"/>
                </a:solidFill>
              </a:rPr>
              <a:t>Lisser et stabiliser les gestes</a:t>
            </a:r>
            <a:endParaRPr lang="en-US" sz="1400" dirty="0"/>
          </a:p>
        </p:txBody>
      </p:sp>
      <p:sp>
        <p:nvSpPr>
          <p:cNvPr id="12" name="Text 10"/>
          <p:cNvSpPr txBox="1"/>
          <p:nvPr/>
        </p:nvSpPr>
        <p:spPr>
          <a:xfrm>
            <a:off x="7772400" y="1801368"/>
            <a:ext cx="914400" cy="365760"/>
          </a:xfrm>
          <a:prstGeom prst="rect">
            <a:avLst/>
          </a:prstGeom>
          <a:noFill/>
          <a:ln/>
        </p:spPr>
        <p:txBody>
          <a:bodyPr wrap="square" lIns="0" tIns="0" rIns="0" bIns="0" rtlCol="0" anchor="ctr"/>
          <a:lstStyle/>
          <a:p>
            <a:pPr algn="r" indent="0" marL="0">
              <a:buNone/>
            </a:pPr>
            <a:r>
              <a:rPr lang="en-US" sz="1000" b="1" dirty="0">
                <a:solidFill>
                  <a:schemeClr val="accent1"/>
                </a:solidFill>
                <a:latin typeface="Courier New" pitchFamily="34" charset="0"/>
                <a:ea typeface="Courier New" pitchFamily="34" charset="-122"/>
                <a:cs typeface="Courier New" pitchFamily="34" charset="-120"/>
              </a:rPr>
              <a:t>SUIVI</a:t>
            </a:r>
            <a:endParaRPr lang="en-US" sz="1000" dirty="0"/>
          </a:p>
        </p:txBody>
      </p:sp>
      <p:sp>
        <p:nvSpPr>
          <p:cNvPr id="13" name="Shape 11"/>
          <p:cNvSpPr/>
          <p:nvPr/>
        </p:nvSpPr>
        <p:spPr>
          <a:xfrm>
            <a:off x="4297680" y="2386584"/>
            <a:ext cx="146304" cy="146304"/>
          </a:xfrm>
          <a:prstGeom prst="ellipse">
            <a:avLst/>
          </a:prstGeom>
          <a:solidFill>
            <a:schemeClr val="accent1"/>
          </a:solidFill>
          <a:ln w="19050">
            <a:solidFill>
              <a:schemeClr val="accent1"/>
            </a:solidFill>
            <a:prstDash val="solid"/>
          </a:ln>
        </p:spPr>
      </p:sp>
      <p:sp>
        <p:nvSpPr>
          <p:cNvPr id="14" name="Text 12"/>
          <p:cNvSpPr txBox="1"/>
          <p:nvPr/>
        </p:nvSpPr>
        <p:spPr>
          <a:xfrm>
            <a:off x="4617720" y="2276856"/>
            <a:ext cx="3200400" cy="365760"/>
          </a:xfrm>
          <a:prstGeom prst="rect">
            <a:avLst/>
          </a:prstGeom>
          <a:noFill/>
          <a:ln/>
        </p:spPr>
        <p:txBody>
          <a:bodyPr wrap="square" lIns="0" tIns="0" rIns="0" bIns="0" rtlCol="0" anchor="ctr"/>
          <a:lstStyle/>
          <a:p>
            <a:pPr indent="0" marL="0">
              <a:buNone/>
            </a:pPr>
            <a:r>
              <a:rPr lang="en-US" sz="1400" dirty="0">
                <a:solidFill>
                  <a:schemeClr val="bg1"/>
                </a:solidFill>
              </a:rPr>
              <a:t>Héberger soi-même les bibliothèques</a:t>
            </a:r>
            <a:endParaRPr lang="en-US" sz="1400" dirty="0"/>
          </a:p>
        </p:txBody>
      </p:sp>
      <p:sp>
        <p:nvSpPr>
          <p:cNvPr id="15" name="Text 13"/>
          <p:cNvSpPr txBox="1"/>
          <p:nvPr/>
        </p:nvSpPr>
        <p:spPr>
          <a:xfrm>
            <a:off x="7772400" y="2276856"/>
            <a:ext cx="914400" cy="365760"/>
          </a:xfrm>
          <a:prstGeom prst="rect">
            <a:avLst/>
          </a:prstGeom>
          <a:noFill/>
          <a:ln/>
        </p:spPr>
        <p:txBody>
          <a:bodyPr wrap="square" lIns="0" tIns="0" rIns="0" bIns="0" rtlCol="0" anchor="ctr"/>
          <a:lstStyle/>
          <a:p>
            <a:pPr algn="r" indent="0" marL="0">
              <a:buNone/>
            </a:pPr>
            <a:r>
              <a:rPr lang="en-US" sz="1000" b="1" dirty="0">
                <a:solidFill>
                  <a:schemeClr val="accent1"/>
                </a:solidFill>
                <a:latin typeface="Courier New" pitchFamily="34" charset="0"/>
                <a:ea typeface="Courier New" pitchFamily="34" charset="-122"/>
                <a:cs typeface="Courier New" pitchFamily="34" charset="-120"/>
              </a:rPr>
              <a:t>SUIVI</a:t>
            </a:r>
            <a:endParaRPr lang="en-US" sz="1000" dirty="0"/>
          </a:p>
        </p:txBody>
      </p:sp>
      <p:sp>
        <p:nvSpPr>
          <p:cNvPr id="16" name="Shape 14"/>
          <p:cNvSpPr/>
          <p:nvPr/>
        </p:nvSpPr>
        <p:spPr>
          <a:xfrm>
            <a:off x="4297680" y="2862072"/>
            <a:ext cx="146304" cy="146304"/>
          </a:xfrm>
          <a:prstGeom prst="ellipse">
            <a:avLst/>
          </a:prstGeom>
          <a:solidFill>
            <a:schemeClr val="accent1"/>
          </a:solidFill>
          <a:ln w="19050">
            <a:solidFill>
              <a:schemeClr val="accent1"/>
            </a:solidFill>
            <a:prstDash val="solid"/>
          </a:ln>
        </p:spPr>
      </p:sp>
      <p:sp>
        <p:nvSpPr>
          <p:cNvPr id="17" name="Text 15"/>
          <p:cNvSpPr txBox="1"/>
          <p:nvPr/>
        </p:nvSpPr>
        <p:spPr>
          <a:xfrm>
            <a:off x="4617720" y="2752344"/>
            <a:ext cx="3200400" cy="365760"/>
          </a:xfrm>
          <a:prstGeom prst="rect">
            <a:avLst/>
          </a:prstGeom>
          <a:noFill/>
          <a:ln/>
        </p:spPr>
        <p:txBody>
          <a:bodyPr wrap="square" lIns="0" tIns="0" rIns="0" bIns="0" rtlCol="0" anchor="ctr"/>
          <a:lstStyle/>
          <a:p>
            <a:pPr indent="0" marL="0">
              <a:buNone/>
            </a:pPr>
            <a:r>
              <a:rPr lang="en-US" sz="1400" dirty="0">
                <a:solidFill>
                  <a:schemeClr val="bg1"/>
                </a:solidFill>
              </a:rPr>
              <a:t>Faire vérifier les fiches techniques</a:t>
            </a:r>
            <a:endParaRPr lang="en-US" sz="1400" dirty="0"/>
          </a:p>
        </p:txBody>
      </p:sp>
      <p:sp>
        <p:nvSpPr>
          <p:cNvPr id="18" name="Text 16"/>
          <p:cNvSpPr txBox="1"/>
          <p:nvPr/>
        </p:nvSpPr>
        <p:spPr>
          <a:xfrm>
            <a:off x="7772400" y="2752344"/>
            <a:ext cx="914400" cy="365760"/>
          </a:xfrm>
          <a:prstGeom prst="rect">
            <a:avLst/>
          </a:prstGeom>
          <a:noFill/>
          <a:ln/>
        </p:spPr>
        <p:txBody>
          <a:bodyPr wrap="square" lIns="0" tIns="0" rIns="0" bIns="0" rtlCol="0" anchor="ctr"/>
          <a:lstStyle/>
          <a:p>
            <a:pPr algn="r" indent="0" marL="0">
              <a:buNone/>
            </a:pPr>
            <a:r>
              <a:rPr lang="en-US" sz="1000" b="1" dirty="0">
                <a:solidFill>
                  <a:schemeClr val="accent1"/>
                </a:solidFill>
                <a:latin typeface="Courier New" pitchFamily="34" charset="0"/>
                <a:ea typeface="Courier New" pitchFamily="34" charset="-122"/>
                <a:cs typeface="Courier New" pitchFamily="34" charset="-120"/>
              </a:rPr>
              <a:t>SUIVI</a:t>
            </a:r>
            <a:endParaRPr lang="en-US" sz="1000" dirty="0"/>
          </a:p>
        </p:txBody>
      </p:sp>
      <p:sp>
        <p:nvSpPr>
          <p:cNvPr id="19" name="Shape 17"/>
          <p:cNvSpPr/>
          <p:nvPr/>
        </p:nvSpPr>
        <p:spPr>
          <a:xfrm>
            <a:off x="4297680" y="3337560"/>
            <a:ext cx="146304" cy="146304"/>
          </a:xfrm>
          <a:prstGeom prst="ellipse">
            <a:avLst/>
          </a:prstGeom>
          <a:solidFill>
            <a:schemeClr val="accent1"/>
          </a:solidFill>
          <a:ln w="19050">
            <a:solidFill>
              <a:schemeClr val="accent1"/>
            </a:solidFill>
            <a:prstDash val="solid"/>
          </a:ln>
        </p:spPr>
      </p:sp>
      <p:sp>
        <p:nvSpPr>
          <p:cNvPr id="20" name="Text 18"/>
          <p:cNvSpPr txBox="1"/>
          <p:nvPr/>
        </p:nvSpPr>
        <p:spPr>
          <a:xfrm>
            <a:off x="4617720" y="3227832"/>
            <a:ext cx="3200400" cy="365760"/>
          </a:xfrm>
          <a:prstGeom prst="rect">
            <a:avLst/>
          </a:prstGeom>
          <a:noFill/>
          <a:ln/>
        </p:spPr>
        <p:txBody>
          <a:bodyPr wrap="square" lIns="0" tIns="0" rIns="0" bIns="0" rtlCol="0" anchor="ctr"/>
          <a:lstStyle/>
          <a:p>
            <a:pPr indent="0" marL="0">
              <a:buNone/>
            </a:pPr>
            <a:r>
              <a:rPr lang="en-US" sz="1400" dirty="0">
                <a:solidFill>
                  <a:schemeClr val="bg1"/>
                </a:solidFill>
              </a:rPr>
              <a:t>Passer à de vrais modèles 3D (.glb)</a:t>
            </a:r>
            <a:endParaRPr lang="en-US" sz="1400" dirty="0"/>
          </a:p>
        </p:txBody>
      </p:sp>
      <p:sp>
        <p:nvSpPr>
          <p:cNvPr id="21" name="Text 19"/>
          <p:cNvSpPr txBox="1"/>
          <p:nvPr/>
        </p:nvSpPr>
        <p:spPr>
          <a:xfrm>
            <a:off x="7772400" y="3227832"/>
            <a:ext cx="914400" cy="365760"/>
          </a:xfrm>
          <a:prstGeom prst="rect">
            <a:avLst/>
          </a:prstGeom>
          <a:noFill/>
          <a:ln/>
        </p:spPr>
        <p:txBody>
          <a:bodyPr wrap="square" lIns="0" tIns="0" rIns="0" bIns="0" rtlCol="0" anchor="ctr"/>
          <a:lstStyle/>
          <a:p>
            <a:pPr algn="r" indent="0" marL="0">
              <a:buNone/>
            </a:pPr>
            <a:r>
              <a:rPr lang="en-US" sz="1000" b="1" dirty="0">
                <a:solidFill>
                  <a:schemeClr val="accent1"/>
                </a:solidFill>
                <a:latin typeface="Courier New" pitchFamily="34" charset="0"/>
                <a:ea typeface="Courier New" pitchFamily="34" charset="-122"/>
                <a:cs typeface="Courier New" pitchFamily="34" charset="-120"/>
              </a:rPr>
              <a:t>SUIVI</a:t>
            </a:r>
            <a:endParaRPr lang="en-US" sz="1000" dirty="0"/>
          </a:p>
        </p:txBody>
      </p:sp>
      <p:sp>
        <p:nvSpPr>
          <p:cNvPr id="22" name="Shape 20"/>
          <p:cNvSpPr/>
          <p:nvPr/>
        </p:nvSpPr>
        <p:spPr>
          <a:xfrm>
            <a:off x="4297680" y="3813048"/>
            <a:ext cx="146304" cy="146304"/>
          </a:xfrm>
          <a:prstGeom prst="ellipse">
            <a:avLst/>
          </a:prstGeom>
          <a:solidFill>
            <a:schemeClr val="tx1"/>
          </a:solidFill>
          <a:ln w="19050">
            <a:solidFill>
              <a:schemeClr val="accent1"/>
            </a:solidFill>
            <a:prstDash val="solid"/>
          </a:ln>
        </p:spPr>
      </p:sp>
      <p:sp>
        <p:nvSpPr>
          <p:cNvPr id="23" name="Text 21"/>
          <p:cNvSpPr txBox="1"/>
          <p:nvPr/>
        </p:nvSpPr>
        <p:spPr>
          <a:xfrm>
            <a:off x="4617720" y="3703320"/>
            <a:ext cx="3200400" cy="365760"/>
          </a:xfrm>
          <a:prstGeom prst="rect">
            <a:avLst/>
          </a:prstGeom>
          <a:noFill/>
          <a:ln/>
        </p:spPr>
        <p:txBody>
          <a:bodyPr wrap="square" lIns="0" tIns="0" rIns="0" bIns="0" rtlCol="0" anchor="ctr"/>
          <a:lstStyle/>
          <a:p>
            <a:pPr indent="0" marL="0">
              <a:buNone/>
            </a:pPr>
            <a:r>
              <a:rPr lang="en-US" sz="1400" dirty="0">
                <a:solidFill>
                  <a:schemeClr val="bg1"/>
                </a:solidFill>
              </a:rPr>
              <a:t>Entraîner un classifieur de gestes</a:t>
            </a:r>
            <a:endParaRPr lang="en-US" sz="1400" dirty="0"/>
          </a:p>
        </p:txBody>
      </p:sp>
      <p:sp>
        <p:nvSpPr>
          <p:cNvPr id="24" name="Text 22"/>
          <p:cNvSpPr txBox="1"/>
          <p:nvPr/>
        </p:nvSpPr>
        <p:spPr>
          <a:xfrm>
            <a:off x="7772400" y="3703320"/>
            <a:ext cx="914400" cy="365760"/>
          </a:xfrm>
          <a:prstGeom prst="rect">
            <a:avLst/>
          </a:prstGeom>
          <a:noFill/>
          <a:ln/>
        </p:spPr>
        <p:txBody>
          <a:bodyPr wrap="square" lIns="0" tIns="0" rIns="0" bIns="0" rtlCol="0" anchor="ctr"/>
          <a:lstStyle/>
          <a:p>
            <a:pPr algn="r" indent="0" marL="0">
              <a:buNone/>
            </a:pPr>
            <a:r>
              <a:rPr lang="en-US" sz="1000" b="1" dirty="0">
                <a:solidFill>
                  <a:schemeClr val="accent2"/>
                </a:solidFill>
                <a:latin typeface="Courier New" pitchFamily="34" charset="0"/>
                <a:ea typeface="Courier New" pitchFamily="34" charset="-122"/>
                <a:cs typeface="Courier New" pitchFamily="34" charset="-120"/>
              </a:rPr>
              <a:t>NUANCÉ</a:t>
            </a:r>
            <a:endParaRPr lang="en-US" sz="1000" dirty="0"/>
          </a:p>
        </p:txBody>
      </p:sp>
      <p:sp>
        <p:nvSpPr>
          <p:cNvPr id="25" name="Shape 23"/>
          <p:cNvSpPr/>
          <p:nvPr/>
        </p:nvSpPr>
        <p:spPr>
          <a:xfrm>
            <a:off x="4297680" y="4288536"/>
            <a:ext cx="146304" cy="146304"/>
          </a:xfrm>
          <a:prstGeom prst="ellipse">
            <a:avLst/>
          </a:prstGeom>
          <a:solidFill>
            <a:schemeClr val="tx1"/>
          </a:solidFill>
          <a:ln w="19050">
            <a:solidFill>
              <a:schemeClr val="accent1"/>
            </a:solidFill>
            <a:prstDash val="solid"/>
          </a:ln>
        </p:spPr>
      </p:sp>
      <p:sp>
        <p:nvSpPr>
          <p:cNvPr id="26" name="Text 24"/>
          <p:cNvSpPr txBox="1"/>
          <p:nvPr/>
        </p:nvSpPr>
        <p:spPr>
          <a:xfrm>
            <a:off x="4617720" y="4178808"/>
            <a:ext cx="3200400" cy="365760"/>
          </a:xfrm>
          <a:prstGeom prst="rect">
            <a:avLst/>
          </a:prstGeom>
          <a:noFill/>
          <a:ln/>
        </p:spPr>
        <p:txBody>
          <a:bodyPr wrap="square" lIns="0" tIns="0" rIns="0" bIns="0" rtlCol="0" anchor="ctr"/>
          <a:lstStyle/>
          <a:p>
            <a:pPr indent="0" marL="0">
              <a:buNone/>
            </a:pPr>
            <a:r>
              <a:rPr lang="en-US" sz="1400" dirty="0">
                <a:solidFill>
                  <a:schemeClr val="bg1"/>
                </a:solidFill>
              </a:rPr>
              <a:t>Détection dans un Web Worker</a:t>
            </a:r>
            <a:endParaRPr lang="en-US" sz="1400" dirty="0"/>
          </a:p>
        </p:txBody>
      </p:sp>
      <p:sp>
        <p:nvSpPr>
          <p:cNvPr id="27" name="Text 25"/>
          <p:cNvSpPr txBox="1"/>
          <p:nvPr/>
        </p:nvSpPr>
        <p:spPr>
          <a:xfrm>
            <a:off x="7772400" y="4178808"/>
            <a:ext cx="914400" cy="365760"/>
          </a:xfrm>
          <a:prstGeom prst="rect">
            <a:avLst/>
          </a:prstGeom>
          <a:noFill/>
          <a:ln/>
        </p:spPr>
        <p:txBody>
          <a:bodyPr wrap="square" lIns="0" tIns="0" rIns="0" bIns="0" rtlCol="0" anchor="ctr"/>
          <a:lstStyle/>
          <a:p>
            <a:pPr algn="r" indent="0" marL="0">
              <a:buNone/>
            </a:pPr>
            <a:r>
              <a:rPr lang="en-US" sz="1000" b="1" dirty="0">
                <a:solidFill>
                  <a:schemeClr val="accent2"/>
                </a:solidFill>
                <a:latin typeface="Courier New" pitchFamily="34" charset="0"/>
                <a:ea typeface="Courier New" pitchFamily="34" charset="-122"/>
                <a:cs typeface="Courier New" pitchFamily="34" charset="-120"/>
              </a:rPr>
              <a:t>NUANCÉ</a:t>
            </a:r>
            <a:endParaRPr lang="en-US" sz="10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05 · LES PERSPECTIVES</a:t>
            </a: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Ce qu'il reste à faire</a:t>
            </a:r>
            <a:endParaRPr lang="en-US" sz="4000" dirty="0"/>
          </a:p>
        </p:txBody>
      </p:sp>
      <p:sp>
        <p:nvSpPr>
          <p:cNvPr id="4" name="Shape 2"/>
          <p:cNvSpPr/>
          <p:nvPr/>
        </p:nvSpPr>
        <p:spPr>
          <a:xfrm>
            <a:off x="457200" y="2331720"/>
            <a:ext cx="8229600" cy="0"/>
          </a:xfrm>
          <a:prstGeom prst="line">
            <a:avLst/>
          </a:prstGeom>
          <a:noFill/>
          <a:ln w="12700">
            <a:solidFill>
              <a:schemeClr val="accent5"/>
            </a:solidFill>
            <a:prstDash val="solid"/>
          </a:ln>
        </p:spPr>
      </p:sp>
      <p:sp>
        <p:nvSpPr>
          <p:cNvPr id="5" name="Text 3"/>
          <p:cNvSpPr txBox="1"/>
          <p:nvPr/>
        </p:nvSpPr>
        <p:spPr>
          <a:xfrm>
            <a:off x="457200" y="1371600"/>
            <a:ext cx="1828800" cy="777240"/>
          </a:xfrm>
          <a:prstGeom prst="rect">
            <a:avLst/>
          </a:prstGeom>
          <a:noFill/>
          <a:ln/>
        </p:spPr>
        <p:txBody>
          <a:bodyPr wrap="square" lIns="0" tIns="0" rIns="0" bIns="0" rtlCol="0" anchor="ctr"/>
          <a:lstStyle/>
          <a:p>
            <a:pPr indent="0" marL="0">
              <a:buNone/>
            </a:pPr>
            <a:r>
              <a:rPr lang="en-US" sz="5400" b="1" dirty="0">
                <a:solidFill>
                  <a:schemeClr val="accent5"/>
                </a:solidFill>
              </a:rPr>
              <a:t>01</a:t>
            </a:r>
            <a:endParaRPr lang="en-US" sz="5400" dirty="0"/>
          </a:p>
        </p:txBody>
      </p:sp>
      <p:sp>
        <p:nvSpPr>
          <p:cNvPr id="6" name="Shape 4"/>
          <p:cNvSpPr/>
          <p:nvPr/>
        </p:nvSpPr>
        <p:spPr>
          <a:xfrm>
            <a:off x="457200" y="2258568"/>
            <a:ext cx="146304" cy="146304"/>
          </a:xfrm>
          <a:prstGeom prst="ellipse">
            <a:avLst/>
          </a:prstGeom>
          <a:solidFill>
            <a:schemeClr val="accent1"/>
          </a:solidFill>
          <a:ln w="12700">
            <a:solidFill>
              <a:schemeClr val="accent1"/>
            </a:solidFill>
            <a:prstDash val="solid"/>
          </a:ln>
        </p:spPr>
      </p:sp>
      <p:sp>
        <p:nvSpPr>
          <p:cNvPr id="7" name="Text 5"/>
          <p:cNvSpPr txBox="1"/>
          <p:nvPr/>
        </p:nvSpPr>
        <p:spPr>
          <a:xfrm>
            <a:off x="457200" y="2560320"/>
            <a:ext cx="1920240" cy="365760"/>
          </a:xfrm>
          <a:prstGeom prst="rect">
            <a:avLst/>
          </a:prstGeom>
          <a:noFill/>
          <a:ln/>
        </p:spPr>
        <p:txBody>
          <a:bodyPr wrap="square" lIns="0" tIns="0" rIns="0" bIns="0" rtlCol="0" anchor="t"/>
          <a:lstStyle/>
          <a:p>
            <a:pPr indent="0" marL="0">
              <a:buNone/>
            </a:pPr>
            <a:r>
              <a:rPr lang="en-US" sz="2000" b="1" dirty="0">
                <a:solidFill>
                  <a:schemeClr val="bg1"/>
                </a:solidFill>
              </a:rPr>
              <a:t>Tester</a:t>
            </a:r>
            <a:endParaRPr lang="en-US" sz="2000" dirty="0"/>
          </a:p>
        </p:txBody>
      </p:sp>
      <p:sp>
        <p:nvSpPr>
          <p:cNvPr id="8" name="Text 6"/>
          <p:cNvSpPr txBox="1"/>
          <p:nvPr/>
        </p:nvSpPr>
        <p:spPr>
          <a:xfrm>
            <a:off x="457200" y="2971800"/>
            <a:ext cx="1828800" cy="777240"/>
          </a:xfrm>
          <a:prstGeom prst="rect">
            <a:avLst/>
          </a:prstGeom>
          <a:noFill/>
          <a:ln/>
        </p:spPr>
        <p:txBody>
          <a:bodyPr wrap="square" lIns="0" tIns="0" rIns="0" bIns="0" rtlCol="0" anchor="t"/>
          <a:lstStyle/>
          <a:p>
            <a:pPr indent="0" marL="0">
              <a:buNone/>
            </a:pPr>
            <a:r>
              <a:rPr lang="en-US" sz="1400" dirty="0">
                <a:solidFill>
                  <a:schemeClr val="accent4"/>
                </a:solidFill>
              </a:rPr>
              <a:t>5 personnes, tâche chronométrée</a:t>
            </a:r>
            <a:endParaRPr lang="en-US" sz="1400" dirty="0"/>
          </a:p>
        </p:txBody>
      </p:sp>
      <p:sp>
        <p:nvSpPr>
          <p:cNvPr id="9" name="Text 7"/>
          <p:cNvSpPr txBox="1"/>
          <p:nvPr/>
        </p:nvSpPr>
        <p:spPr>
          <a:xfrm>
            <a:off x="457200" y="3794760"/>
            <a:ext cx="1828800" cy="18288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OBJECTIF</a:t>
            </a:r>
            <a:endParaRPr lang="en-US" sz="1000" dirty="0"/>
          </a:p>
        </p:txBody>
      </p:sp>
      <p:sp>
        <p:nvSpPr>
          <p:cNvPr id="10" name="Text 8"/>
          <p:cNvSpPr txBox="1"/>
          <p:nvPr/>
        </p:nvSpPr>
        <p:spPr>
          <a:xfrm>
            <a:off x="457200" y="4005072"/>
            <a:ext cx="1828800" cy="548640"/>
          </a:xfrm>
          <a:prstGeom prst="rect">
            <a:avLst/>
          </a:prstGeom>
          <a:noFill/>
          <a:ln/>
        </p:spPr>
        <p:txBody>
          <a:bodyPr wrap="square" lIns="0" tIns="0" rIns="0" bIns="0" rtlCol="0" anchor="t"/>
          <a:lstStyle/>
          <a:p>
            <a:pPr indent="0" marL="0">
              <a:buNone/>
            </a:pPr>
            <a:r>
              <a:rPr lang="en-US" sz="1400" b="1" dirty="0">
                <a:solidFill>
                  <a:schemeClr val="bg1"/>
                </a:solidFill>
              </a:rPr>
              <a:t>4 sur 5 réussissent sans aide</a:t>
            </a:r>
            <a:endParaRPr lang="en-US" sz="1400" dirty="0"/>
          </a:p>
        </p:txBody>
      </p:sp>
      <p:sp>
        <p:nvSpPr>
          <p:cNvPr id="11" name="Text 9"/>
          <p:cNvSpPr txBox="1"/>
          <p:nvPr/>
        </p:nvSpPr>
        <p:spPr>
          <a:xfrm>
            <a:off x="2560320" y="1371600"/>
            <a:ext cx="1828800" cy="777240"/>
          </a:xfrm>
          <a:prstGeom prst="rect">
            <a:avLst/>
          </a:prstGeom>
          <a:noFill/>
          <a:ln/>
        </p:spPr>
        <p:txBody>
          <a:bodyPr wrap="square" lIns="0" tIns="0" rIns="0" bIns="0" rtlCol="0" anchor="ctr"/>
          <a:lstStyle/>
          <a:p>
            <a:pPr indent="0" marL="0">
              <a:buNone/>
            </a:pPr>
            <a:r>
              <a:rPr lang="en-US" sz="5400" b="1" dirty="0">
                <a:solidFill>
                  <a:schemeClr val="accent5"/>
                </a:solidFill>
              </a:rPr>
              <a:t>02</a:t>
            </a:r>
            <a:endParaRPr lang="en-US" sz="5400" dirty="0"/>
          </a:p>
        </p:txBody>
      </p:sp>
      <p:sp>
        <p:nvSpPr>
          <p:cNvPr id="12" name="Shape 10"/>
          <p:cNvSpPr/>
          <p:nvPr/>
        </p:nvSpPr>
        <p:spPr>
          <a:xfrm>
            <a:off x="2560320" y="2258568"/>
            <a:ext cx="146304" cy="146304"/>
          </a:xfrm>
          <a:prstGeom prst="ellipse">
            <a:avLst/>
          </a:prstGeom>
          <a:solidFill>
            <a:schemeClr val="accent1"/>
          </a:solidFill>
          <a:ln w="12700">
            <a:solidFill>
              <a:schemeClr val="accent1"/>
            </a:solidFill>
            <a:prstDash val="solid"/>
          </a:ln>
        </p:spPr>
      </p:sp>
      <p:sp>
        <p:nvSpPr>
          <p:cNvPr id="13" name="Text 11"/>
          <p:cNvSpPr txBox="1"/>
          <p:nvPr/>
        </p:nvSpPr>
        <p:spPr>
          <a:xfrm>
            <a:off x="2560320" y="2560320"/>
            <a:ext cx="1920240" cy="365760"/>
          </a:xfrm>
          <a:prstGeom prst="rect">
            <a:avLst/>
          </a:prstGeom>
          <a:noFill/>
          <a:ln/>
        </p:spPr>
        <p:txBody>
          <a:bodyPr wrap="square" lIns="0" tIns="0" rIns="0" bIns="0" rtlCol="0" anchor="t"/>
          <a:lstStyle/>
          <a:p>
            <a:pPr indent="0" marL="0">
              <a:buNone/>
            </a:pPr>
            <a:r>
              <a:rPr lang="en-US" sz="2000" b="1" dirty="0">
                <a:solidFill>
                  <a:schemeClr val="bg1"/>
                </a:solidFill>
              </a:rPr>
              <a:t>Fiabiliser</a:t>
            </a:r>
            <a:endParaRPr lang="en-US" sz="2000" dirty="0"/>
          </a:p>
        </p:txBody>
      </p:sp>
      <p:sp>
        <p:nvSpPr>
          <p:cNvPr id="14" name="Text 12"/>
          <p:cNvSpPr txBox="1"/>
          <p:nvPr/>
        </p:nvSpPr>
        <p:spPr>
          <a:xfrm>
            <a:off x="2560320" y="2971800"/>
            <a:ext cx="1828800" cy="777240"/>
          </a:xfrm>
          <a:prstGeom prst="rect">
            <a:avLst/>
          </a:prstGeom>
          <a:noFill/>
          <a:ln/>
        </p:spPr>
        <p:txBody>
          <a:bodyPr wrap="square" lIns="0" tIns="0" rIns="0" bIns="0" rtlCol="0" anchor="t"/>
          <a:lstStyle/>
          <a:p>
            <a:pPr indent="0" marL="0">
              <a:buNone/>
            </a:pPr>
            <a:r>
              <a:rPr lang="en-US" sz="1400" dirty="0">
                <a:solidFill>
                  <a:schemeClr val="accent4"/>
                </a:solidFill>
              </a:rPr>
              <a:t>Lissage et seuils réglables pour les gestes</a:t>
            </a:r>
            <a:endParaRPr lang="en-US" sz="1400" dirty="0"/>
          </a:p>
        </p:txBody>
      </p:sp>
      <p:sp>
        <p:nvSpPr>
          <p:cNvPr id="15" name="Text 13"/>
          <p:cNvSpPr txBox="1"/>
          <p:nvPr/>
        </p:nvSpPr>
        <p:spPr>
          <a:xfrm>
            <a:off x="2560320" y="3794760"/>
            <a:ext cx="1828800" cy="18288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OBJECTIF</a:t>
            </a:r>
            <a:endParaRPr lang="en-US" sz="1000" dirty="0"/>
          </a:p>
        </p:txBody>
      </p:sp>
      <p:sp>
        <p:nvSpPr>
          <p:cNvPr id="16" name="Text 14"/>
          <p:cNvSpPr txBox="1"/>
          <p:nvPr/>
        </p:nvSpPr>
        <p:spPr>
          <a:xfrm>
            <a:off x="2560320" y="4005072"/>
            <a:ext cx="1828800" cy="548640"/>
          </a:xfrm>
          <a:prstGeom prst="rect">
            <a:avLst/>
          </a:prstGeom>
          <a:noFill/>
          <a:ln/>
        </p:spPr>
        <p:txBody>
          <a:bodyPr wrap="square" lIns="0" tIns="0" rIns="0" bIns="0" rtlCol="0" anchor="t"/>
          <a:lstStyle/>
          <a:p>
            <a:pPr indent="0" marL="0">
              <a:buNone/>
            </a:pPr>
            <a:r>
              <a:rPr lang="en-US" sz="1400" b="1" dirty="0">
                <a:solidFill>
                  <a:schemeClr val="bg1"/>
                </a:solidFill>
              </a:rPr>
              <a:t>Moins de faux déclenchements</a:t>
            </a:r>
            <a:endParaRPr lang="en-US" sz="1400" dirty="0"/>
          </a:p>
        </p:txBody>
      </p:sp>
      <p:sp>
        <p:nvSpPr>
          <p:cNvPr id="17" name="Text 15"/>
          <p:cNvSpPr txBox="1"/>
          <p:nvPr/>
        </p:nvSpPr>
        <p:spPr>
          <a:xfrm>
            <a:off x="4663440" y="1371600"/>
            <a:ext cx="1828800" cy="777240"/>
          </a:xfrm>
          <a:prstGeom prst="rect">
            <a:avLst/>
          </a:prstGeom>
          <a:noFill/>
          <a:ln/>
        </p:spPr>
        <p:txBody>
          <a:bodyPr wrap="square" lIns="0" tIns="0" rIns="0" bIns="0" rtlCol="0" anchor="ctr"/>
          <a:lstStyle/>
          <a:p>
            <a:pPr indent="0" marL="0">
              <a:buNone/>
            </a:pPr>
            <a:r>
              <a:rPr lang="en-US" sz="5400" b="1" dirty="0">
                <a:solidFill>
                  <a:schemeClr val="accent5"/>
                </a:solidFill>
              </a:rPr>
              <a:t>03</a:t>
            </a:r>
            <a:endParaRPr lang="en-US" sz="5400" dirty="0"/>
          </a:p>
        </p:txBody>
      </p:sp>
      <p:sp>
        <p:nvSpPr>
          <p:cNvPr id="18" name="Shape 16"/>
          <p:cNvSpPr/>
          <p:nvPr/>
        </p:nvSpPr>
        <p:spPr>
          <a:xfrm>
            <a:off x="4663440" y="2258568"/>
            <a:ext cx="146304" cy="146304"/>
          </a:xfrm>
          <a:prstGeom prst="ellipse">
            <a:avLst/>
          </a:prstGeom>
          <a:solidFill>
            <a:schemeClr val="accent1"/>
          </a:solidFill>
          <a:ln w="12700">
            <a:solidFill>
              <a:schemeClr val="accent1"/>
            </a:solidFill>
            <a:prstDash val="solid"/>
          </a:ln>
        </p:spPr>
      </p:sp>
      <p:sp>
        <p:nvSpPr>
          <p:cNvPr id="19" name="Text 17"/>
          <p:cNvSpPr txBox="1"/>
          <p:nvPr/>
        </p:nvSpPr>
        <p:spPr>
          <a:xfrm>
            <a:off x="4663440" y="2560320"/>
            <a:ext cx="1920240" cy="365760"/>
          </a:xfrm>
          <a:prstGeom prst="rect">
            <a:avLst/>
          </a:prstGeom>
          <a:noFill/>
          <a:ln/>
        </p:spPr>
        <p:txBody>
          <a:bodyPr wrap="square" lIns="0" tIns="0" rIns="0" bIns="0" rtlCol="0" anchor="t"/>
          <a:lstStyle/>
          <a:p>
            <a:pPr indent="0" marL="0">
              <a:buNone/>
            </a:pPr>
            <a:r>
              <a:rPr lang="en-US" sz="2000" b="1" dirty="0">
                <a:solidFill>
                  <a:schemeClr val="bg1"/>
                </a:solidFill>
              </a:rPr>
              <a:t>Autonomie</a:t>
            </a:r>
            <a:endParaRPr lang="en-US" sz="2000" dirty="0"/>
          </a:p>
        </p:txBody>
      </p:sp>
      <p:sp>
        <p:nvSpPr>
          <p:cNvPr id="20" name="Text 18"/>
          <p:cNvSpPr txBox="1"/>
          <p:nvPr/>
        </p:nvSpPr>
        <p:spPr>
          <a:xfrm>
            <a:off x="4663440" y="2971800"/>
            <a:ext cx="1828800" cy="777240"/>
          </a:xfrm>
          <a:prstGeom prst="rect">
            <a:avLst/>
          </a:prstGeom>
          <a:noFill/>
          <a:ln/>
        </p:spPr>
        <p:txBody>
          <a:bodyPr wrap="square" lIns="0" tIns="0" rIns="0" bIns="0" rtlCol="0" anchor="t"/>
          <a:lstStyle/>
          <a:p>
            <a:pPr indent="0" marL="0">
              <a:buNone/>
            </a:pPr>
            <a:r>
              <a:rPr lang="en-US" sz="1400" dirty="0">
                <a:solidFill>
                  <a:schemeClr val="accent4"/>
                </a:solidFill>
              </a:rPr>
              <a:t>Bibliothèques en local, code en modules</a:t>
            </a:r>
            <a:endParaRPr lang="en-US" sz="1400" dirty="0"/>
          </a:p>
        </p:txBody>
      </p:sp>
      <p:sp>
        <p:nvSpPr>
          <p:cNvPr id="21" name="Text 19"/>
          <p:cNvSpPr txBox="1"/>
          <p:nvPr/>
        </p:nvSpPr>
        <p:spPr>
          <a:xfrm>
            <a:off x="4663440" y="3794760"/>
            <a:ext cx="1828800" cy="18288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OBJECTIF</a:t>
            </a:r>
            <a:endParaRPr lang="en-US" sz="1000" dirty="0"/>
          </a:p>
        </p:txBody>
      </p:sp>
      <p:sp>
        <p:nvSpPr>
          <p:cNvPr id="22" name="Text 20"/>
          <p:cNvSpPr txBox="1"/>
          <p:nvPr/>
        </p:nvSpPr>
        <p:spPr>
          <a:xfrm>
            <a:off x="4663440" y="4005072"/>
            <a:ext cx="1828800" cy="548640"/>
          </a:xfrm>
          <a:prstGeom prst="rect">
            <a:avLst/>
          </a:prstGeom>
          <a:noFill/>
          <a:ln/>
        </p:spPr>
        <p:txBody>
          <a:bodyPr wrap="square" lIns="0" tIns="0" rIns="0" bIns="0" rtlCol="0" anchor="t"/>
          <a:lstStyle/>
          <a:p>
            <a:pPr indent="0" marL="0">
              <a:buNone/>
            </a:pPr>
            <a:r>
              <a:rPr lang="en-US" sz="1400" b="1" dirty="0">
                <a:solidFill>
                  <a:schemeClr val="bg1"/>
                </a:solidFill>
              </a:rPr>
              <a:t>Fonctionne sans internet</a:t>
            </a:r>
            <a:endParaRPr lang="en-US" sz="1400" dirty="0"/>
          </a:p>
        </p:txBody>
      </p:sp>
      <p:sp>
        <p:nvSpPr>
          <p:cNvPr id="23" name="Text 21"/>
          <p:cNvSpPr txBox="1"/>
          <p:nvPr/>
        </p:nvSpPr>
        <p:spPr>
          <a:xfrm>
            <a:off x="6766560" y="1371600"/>
            <a:ext cx="1828800" cy="777240"/>
          </a:xfrm>
          <a:prstGeom prst="rect">
            <a:avLst/>
          </a:prstGeom>
          <a:noFill/>
          <a:ln/>
        </p:spPr>
        <p:txBody>
          <a:bodyPr wrap="square" lIns="0" tIns="0" rIns="0" bIns="0" rtlCol="0" anchor="ctr"/>
          <a:lstStyle/>
          <a:p>
            <a:pPr indent="0" marL="0">
              <a:buNone/>
            </a:pPr>
            <a:r>
              <a:rPr lang="en-US" sz="5400" b="1" dirty="0">
                <a:solidFill>
                  <a:schemeClr val="accent5"/>
                </a:solidFill>
              </a:rPr>
              <a:t>04</a:t>
            </a:r>
            <a:endParaRPr lang="en-US" sz="5400" dirty="0"/>
          </a:p>
        </p:txBody>
      </p:sp>
      <p:sp>
        <p:nvSpPr>
          <p:cNvPr id="24" name="Shape 22"/>
          <p:cNvSpPr/>
          <p:nvPr/>
        </p:nvSpPr>
        <p:spPr>
          <a:xfrm>
            <a:off x="6766560" y="2258568"/>
            <a:ext cx="146304" cy="146304"/>
          </a:xfrm>
          <a:prstGeom prst="ellipse">
            <a:avLst/>
          </a:prstGeom>
          <a:solidFill>
            <a:schemeClr val="accent1"/>
          </a:solidFill>
          <a:ln w="12700">
            <a:solidFill>
              <a:schemeClr val="accent1"/>
            </a:solidFill>
            <a:prstDash val="solid"/>
          </a:ln>
        </p:spPr>
      </p:sp>
      <p:sp>
        <p:nvSpPr>
          <p:cNvPr id="25" name="Text 23"/>
          <p:cNvSpPr txBox="1"/>
          <p:nvPr/>
        </p:nvSpPr>
        <p:spPr>
          <a:xfrm>
            <a:off x="6766560" y="2560320"/>
            <a:ext cx="1920240" cy="365760"/>
          </a:xfrm>
          <a:prstGeom prst="rect">
            <a:avLst/>
          </a:prstGeom>
          <a:noFill/>
          <a:ln/>
        </p:spPr>
        <p:txBody>
          <a:bodyPr wrap="square" lIns="0" tIns="0" rIns="0" bIns="0" rtlCol="0" anchor="t"/>
          <a:lstStyle/>
          <a:p>
            <a:pPr indent="0" marL="0">
              <a:buNone/>
            </a:pPr>
            <a:r>
              <a:rPr lang="en-US" sz="2000" b="1" dirty="0">
                <a:solidFill>
                  <a:schemeClr val="bg1"/>
                </a:solidFill>
              </a:rPr>
              <a:t>Enrichir</a:t>
            </a:r>
            <a:endParaRPr lang="en-US" sz="2000" dirty="0"/>
          </a:p>
        </p:txBody>
      </p:sp>
      <p:sp>
        <p:nvSpPr>
          <p:cNvPr id="26" name="Text 24"/>
          <p:cNvSpPr txBox="1"/>
          <p:nvPr/>
        </p:nvSpPr>
        <p:spPr>
          <a:xfrm>
            <a:off x="6766560" y="2971800"/>
            <a:ext cx="1828800" cy="777240"/>
          </a:xfrm>
          <a:prstGeom prst="rect">
            <a:avLst/>
          </a:prstGeom>
          <a:noFill/>
          <a:ln/>
        </p:spPr>
        <p:txBody>
          <a:bodyPr wrap="square" lIns="0" tIns="0" rIns="0" bIns="0" rtlCol="0" anchor="t"/>
          <a:lstStyle/>
          <a:p>
            <a:pPr indent="0" marL="0">
              <a:buNone/>
            </a:pPr>
            <a:r>
              <a:rPr lang="en-US" sz="1400" dirty="0">
                <a:solidFill>
                  <a:schemeClr val="accent4"/>
                </a:solidFill>
              </a:rPr>
              <a:t>Fiches sourcées, modèles .glb, mode maintenance</a:t>
            </a:r>
            <a:endParaRPr lang="en-US" sz="1400" dirty="0"/>
          </a:p>
        </p:txBody>
      </p:sp>
      <p:sp>
        <p:nvSpPr>
          <p:cNvPr id="27" name="Text 25"/>
          <p:cNvSpPr txBox="1"/>
          <p:nvPr/>
        </p:nvSpPr>
        <p:spPr>
          <a:xfrm>
            <a:off x="6766560" y="3794760"/>
            <a:ext cx="1828800" cy="18288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OBJECTIF</a:t>
            </a:r>
            <a:endParaRPr lang="en-US" sz="1000" dirty="0"/>
          </a:p>
        </p:txBody>
      </p:sp>
      <p:sp>
        <p:nvSpPr>
          <p:cNvPr id="28" name="Text 26"/>
          <p:cNvSpPr txBox="1"/>
          <p:nvPr/>
        </p:nvSpPr>
        <p:spPr>
          <a:xfrm>
            <a:off x="6766560" y="4005072"/>
            <a:ext cx="1828800" cy="548640"/>
          </a:xfrm>
          <a:prstGeom prst="rect">
            <a:avLst/>
          </a:prstGeom>
          <a:noFill/>
          <a:ln/>
        </p:spPr>
        <p:txBody>
          <a:bodyPr wrap="square" lIns="0" tIns="0" rIns="0" bIns="0" rtlCol="0" anchor="t"/>
          <a:lstStyle/>
          <a:p>
            <a:pPr indent="0" marL="0">
              <a:buNone/>
            </a:pPr>
            <a:r>
              <a:rPr lang="en-US" sz="1400" b="1" dirty="0">
                <a:solidFill>
                  <a:schemeClr val="bg1"/>
                </a:solidFill>
              </a:rPr>
              <a:t>Chaque fiche a sa source</a:t>
            </a:r>
            <a:endParaRPr lang="en-US" sz="1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06 · L'AUDIT DU CODE</a:t>
            </a: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Un bug révélateur</a:t>
            </a:r>
            <a:endParaRPr lang="en-US" sz="4000" dirty="0"/>
          </a:p>
        </p:txBody>
      </p:sp>
      <p:sp>
        <p:nvSpPr>
          <p:cNvPr id="4" name="Shape 2"/>
          <p:cNvSpPr/>
          <p:nvPr/>
        </p:nvSpPr>
        <p:spPr>
          <a:xfrm>
            <a:off x="457200" y="1371600"/>
            <a:ext cx="5029200" cy="3108960"/>
          </a:xfrm>
          <a:prstGeom prst="rect">
            <a:avLst/>
          </a:prstGeom>
          <a:solidFill>
            <a:schemeClr val="tx2"/>
          </a:solidFill>
          <a:ln w="12700">
            <a:solidFill>
              <a:schemeClr val="accent5"/>
            </a:solidFill>
            <a:prstDash val="solid"/>
          </a:ln>
        </p:spPr>
      </p:sp>
      <p:sp>
        <p:nvSpPr>
          <p:cNvPr id="5" name="Text 3"/>
          <p:cNvSpPr txBox="1"/>
          <p:nvPr/>
        </p:nvSpPr>
        <p:spPr>
          <a:xfrm>
            <a:off x="685800" y="1508760"/>
            <a:ext cx="274320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console.js</a:t>
            </a:r>
            <a:endParaRPr lang="en-US" sz="1000" dirty="0"/>
          </a:p>
        </p:txBody>
      </p:sp>
      <p:sp>
        <p:nvSpPr>
          <p:cNvPr id="6" name="Text 4"/>
          <p:cNvSpPr txBox="1"/>
          <p:nvPr/>
        </p:nvSpPr>
        <p:spPr>
          <a:xfrm>
            <a:off x="685800" y="1828800"/>
            <a:ext cx="4572000" cy="256032"/>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 valeur reçue</a:t>
            </a:r>
            <a:endParaRPr lang="en-US" sz="1400" dirty="0"/>
          </a:p>
        </p:txBody>
      </p:sp>
      <p:sp>
        <p:nvSpPr>
          <p:cNvPr id="7" name="Text 5"/>
          <p:cNvSpPr txBox="1"/>
          <p:nvPr/>
        </p:nvSpPr>
        <p:spPr>
          <a:xfrm>
            <a:off x="685800" y="2103120"/>
            <a:ext cx="4572000" cy="256032"/>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r = null</a:t>
            </a:r>
            <a:endParaRPr lang="en-US" sz="1400" dirty="0"/>
          </a:p>
        </p:txBody>
      </p:sp>
      <p:sp>
        <p:nvSpPr>
          <p:cNvPr id="8" name="Text 6"/>
          <p:cNvSpPr txBox="1"/>
          <p:nvPr/>
        </p:nvSpPr>
        <p:spPr>
          <a:xfrm>
            <a:off x="685800" y="2651760"/>
            <a:ext cx="4572000" cy="256032"/>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 valeur par défaut prévue</a:t>
            </a:r>
            <a:endParaRPr lang="en-US" sz="1400" dirty="0"/>
          </a:p>
        </p:txBody>
      </p:sp>
      <p:sp>
        <p:nvSpPr>
          <p:cNvPr id="9" name="Text 7"/>
          <p:cNvSpPr txBox="1"/>
          <p:nvPr/>
        </p:nvSpPr>
        <p:spPr>
          <a:xfrm>
            <a:off x="685800" y="2926080"/>
            <a:ext cx="4572000" cy="256032"/>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r = [0, 0, 0]</a:t>
            </a:r>
            <a:endParaRPr lang="en-US" sz="1400" dirty="0"/>
          </a:p>
        </p:txBody>
      </p:sp>
      <p:sp>
        <p:nvSpPr>
          <p:cNvPr id="10" name="Text 8"/>
          <p:cNvSpPr txBox="1"/>
          <p:nvPr/>
        </p:nvSpPr>
        <p:spPr>
          <a:xfrm>
            <a:off x="685800" y="3474720"/>
            <a:ext cx="4572000" cy="256032"/>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 un défaut ne remplace que undefined</a:t>
            </a:r>
            <a:endParaRPr lang="en-US" sz="1400" dirty="0"/>
          </a:p>
        </p:txBody>
      </p:sp>
      <p:sp>
        <p:nvSpPr>
          <p:cNvPr id="11" name="Text 9"/>
          <p:cNvSpPr txBox="1"/>
          <p:nvPr/>
        </p:nvSpPr>
        <p:spPr>
          <a:xfrm>
            <a:off x="685800" y="3749040"/>
            <a:ext cx="4572000"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r[0]  →  TypeError</a:t>
            </a:r>
            <a:endParaRPr lang="en-US" sz="1400" dirty="0"/>
          </a:p>
        </p:txBody>
      </p:sp>
      <p:sp>
        <p:nvSpPr>
          <p:cNvPr id="12" name="Text 10"/>
          <p:cNvSpPr txBox="1"/>
          <p:nvPr/>
        </p:nvSpPr>
        <p:spPr>
          <a:xfrm>
            <a:off x="685800" y="4069080"/>
            <a:ext cx="4572000" cy="22860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Cannot read properties of null (reading '0')</a:t>
            </a:r>
            <a:endParaRPr lang="en-US" sz="1100" dirty="0"/>
          </a:p>
        </p:txBody>
      </p:sp>
      <p:sp>
        <p:nvSpPr>
          <p:cNvPr id="13" name="Text 11"/>
          <p:cNvSpPr txBox="1"/>
          <p:nvPr/>
        </p:nvSpPr>
        <p:spPr>
          <a:xfrm>
            <a:off x="5806440" y="1280160"/>
            <a:ext cx="2926080" cy="1371600"/>
          </a:xfrm>
          <a:prstGeom prst="rect">
            <a:avLst/>
          </a:prstGeom>
          <a:noFill/>
          <a:ln/>
        </p:spPr>
        <p:txBody>
          <a:bodyPr wrap="square" lIns="0" tIns="0" rIns="0" bIns="0" rtlCol="0" anchor="ctr"/>
          <a:lstStyle/>
          <a:p>
            <a:pPr indent="0" marL="0">
              <a:buNone/>
            </a:pPr>
            <a:r>
              <a:rPr lang="en-US" sz="8800" b="1" dirty="0">
                <a:solidFill>
                  <a:schemeClr val="accent1"/>
                </a:solidFill>
              </a:rPr>
              <a:t>9/10</a:t>
            </a:r>
            <a:endParaRPr lang="en-US" sz="8800" dirty="0"/>
          </a:p>
        </p:txBody>
      </p:sp>
      <p:sp>
        <p:nvSpPr>
          <p:cNvPr id="14" name="Text 12"/>
          <p:cNvSpPr txBox="1"/>
          <p:nvPr/>
        </p:nvSpPr>
        <p:spPr>
          <a:xfrm>
            <a:off x="5852160" y="2651760"/>
            <a:ext cx="2834640" cy="320040"/>
          </a:xfrm>
          <a:prstGeom prst="rect">
            <a:avLst/>
          </a:prstGeom>
          <a:noFill/>
          <a:ln/>
        </p:spPr>
        <p:txBody>
          <a:bodyPr wrap="square" lIns="0" tIns="0" rIns="0" bIns="0" rtlCol="0" anchor="t"/>
          <a:lstStyle/>
          <a:p>
            <a:pPr indent="0" marL="0">
              <a:buNone/>
            </a:pPr>
            <a:r>
              <a:rPr lang="en-US" sz="1800" b="1" dirty="0">
                <a:solidFill>
                  <a:schemeClr val="bg1"/>
                </a:solidFill>
              </a:rPr>
              <a:t>objets plantaient</a:t>
            </a:r>
            <a:endParaRPr lang="en-US" sz="1800" dirty="0"/>
          </a:p>
        </p:txBody>
      </p:sp>
      <p:sp>
        <p:nvSpPr>
          <p:cNvPr id="15" name="Text 13"/>
          <p:cNvSpPr txBox="1"/>
          <p:nvPr/>
        </p:nvSpPr>
        <p:spPr>
          <a:xfrm>
            <a:off x="5852160" y="3200400"/>
            <a:ext cx="2834640" cy="182880"/>
          </a:xfrm>
          <a:prstGeom prst="rect">
            <a:avLst/>
          </a:prstGeom>
          <a:noFill/>
          <a:ln/>
        </p:spPr>
        <p:txBody>
          <a:bodyPr wrap="square" lIns="0" tIns="0" rIns="0" bIns="0" rtlCol="0" anchor="t"/>
          <a:lstStyle/>
          <a:p>
            <a:pPr indent="0" marL="0">
              <a:buNone/>
            </a:pPr>
            <a:r>
              <a:rPr lang="en-US" sz="1000" dirty="0">
                <a:solidFill>
                  <a:schemeClr val="accent2"/>
                </a:solidFill>
                <a:latin typeface="Courier New" pitchFamily="34" charset="0"/>
                <a:ea typeface="Courier New" pitchFamily="34" charset="-122"/>
                <a:cs typeface="Courier New" pitchFamily="34" charset="-120"/>
              </a:rPr>
              <a:t>CORRECTION EN UNE LIGNE</a:t>
            </a:r>
            <a:endParaRPr lang="en-US" sz="1000" dirty="0"/>
          </a:p>
        </p:txBody>
      </p:sp>
      <p:sp>
        <p:nvSpPr>
          <p:cNvPr id="16" name="Text 14"/>
          <p:cNvSpPr txBox="1"/>
          <p:nvPr/>
        </p:nvSpPr>
        <p:spPr>
          <a:xfrm>
            <a:off x="5852160" y="3429000"/>
            <a:ext cx="2834640" cy="27432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r0 ?? [0, 0, 0]</a:t>
            </a:r>
            <a:endParaRPr lang="en-US" sz="1600" dirty="0"/>
          </a:p>
        </p:txBody>
      </p:sp>
      <p:sp>
        <p:nvSpPr>
          <p:cNvPr id="17" name="Text 15"/>
          <p:cNvSpPr txBox="1"/>
          <p:nvPr/>
        </p:nvSpPr>
        <p:spPr>
          <a:xfrm>
            <a:off x="5852160" y="3840480"/>
            <a:ext cx="2834640" cy="640080"/>
          </a:xfrm>
          <a:prstGeom prst="rect">
            <a:avLst/>
          </a:prstGeom>
          <a:noFill/>
          <a:ln/>
        </p:spPr>
        <p:txBody>
          <a:bodyPr wrap="square" lIns="0" tIns="0" rIns="0" bIns="0" rtlCol="0" anchor="t"/>
          <a:lstStyle/>
          <a:p>
            <a:pPr indent="0" marL="0">
              <a:buNone/>
            </a:pPr>
            <a:r>
              <a:rPr lang="en-US" sz="1600" i="1" dirty="0">
                <a:solidFill>
                  <a:schemeClr val="accent4"/>
                </a:solidFill>
              </a:rPr>
              <a:t>Un code qui a l'air bon n'est pas un code vérifié.</a:t>
            </a:r>
            <a:endParaRPr lang="en-US" sz="16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06 · L'AUDIT DU CODE</a:t>
            </a:r>
            <a:endParaRPr lang="en-US" sz="12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Comment auditer le code</a:t>
            </a:r>
            <a:endParaRPr lang="en-US" sz="4000" dirty="0"/>
          </a:p>
        </p:txBody>
      </p:sp>
      <p:sp>
        <p:nvSpPr>
          <p:cNvPr id="4" name="Text 2"/>
          <p:cNvSpPr txBox="1"/>
          <p:nvPr/>
        </p:nvSpPr>
        <p:spPr>
          <a:xfrm>
            <a:off x="457200" y="1417320"/>
            <a:ext cx="2651760" cy="365760"/>
          </a:xfrm>
          <a:prstGeom prst="rect">
            <a:avLst/>
          </a:prstGeom>
          <a:noFill/>
          <a:ln/>
        </p:spPr>
        <p:txBody>
          <a:bodyPr wrap="square" lIns="0" tIns="0" rIns="0" bIns="0" rtlCol="0" anchor="t"/>
          <a:lstStyle/>
          <a:p>
            <a:pPr indent="0" marL="0">
              <a:buNone/>
            </a:pPr>
            <a:r>
              <a:rPr lang="en-US" sz="2200" b="1" dirty="0">
                <a:solidFill>
                  <a:schemeClr val="bg1"/>
                </a:solidFill>
              </a:rPr>
              <a:t>Compréhension</a:t>
            </a:r>
            <a:endParaRPr lang="en-US" sz="2200" dirty="0"/>
          </a:p>
        </p:txBody>
      </p:sp>
      <p:sp>
        <p:nvSpPr>
          <p:cNvPr id="5" name="Text 3"/>
          <p:cNvSpPr txBox="1"/>
          <p:nvPr/>
        </p:nvSpPr>
        <p:spPr>
          <a:xfrm>
            <a:off x="457200" y="1828800"/>
            <a:ext cx="2560320" cy="502920"/>
          </a:xfrm>
          <a:prstGeom prst="rect">
            <a:avLst/>
          </a:prstGeom>
          <a:noFill/>
          <a:ln/>
        </p:spPr>
        <p:txBody>
          <a:bodyPr wrap="square" lIns="0" tIns="0" rIns="0" bIns="0" rtlCol="0" anchor="t"/>
          <a:lstStyle/>
          <a:p>
            <a:pPr indent="0" marL="0">
              <a:buNone/>
            </a:pPr>
            <a:r>
              <a:rPr lang="en-US" sz="1400" dirty="0">
                <a:solidFill>
                  <a:schemeClr val="accent4"/>
                </a:solidFill>
              </a:rPr>
              <a:t>Puis-je expliquer chaque bloc de code ?</a:t>
            </a:r>
            <a:endParaRPr lang="en-US" sz="1400" dirty="0"/>
          </a:p>
        </p:txBody>
      </p:sp>
      <p:sp>
        <p:nvSpPr>
          <p:cNvPr id="6" name="Text 4"/>
          <p:cNvSpPr txBox="1"/>
          <p:nvPr/>
        </p:nvSpPr>
        <p:spPr>
          <a:xfrm>
            <a:off x="457200" y="2377440"/>
            <a:ext cx="2651760" cy="36576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 RELECTURE BLOC PAR BLOC</a:t>
            </a:r>
            <a:endParaRPr lang="en-US" sz="1000" dirty="0"/>
          </a:p>
        </p:txBody>
      </p:sp>
      <p:sp>
        <p:nvSpPr>
          <p:cNvPr id="7" name="Text 5"/>
          <p:cNvSpPr txBox="1"/>
          <p:nvPr/>
        </p:nvSpPr>
        <p:spPr>
          <a:xfrm>
            <a:off x="3291840" y="1417320"/>
            <a:ext cx="2651760" cy="365760"/>
          </a:xfrm>
          <a:prstGeom prst="rect">
            <a:avLst/>
          </a:prstGeom>
          <a:noFill/>
          <a:ln/>
        </p:spPr>
        <p:txBody>
          <a:bodyPr wrap="square" lIns="0" tIns="0" rIns="0" bIns="0" rtlCol="0" anchor="t"/>
          <a:lstStyle/>
          <a:p>
            <a:pPr indent="0" marL="0">
              <a:buNone/>
            </a:pPr>
            <a:r>
              <a:rPr lang="en-US" sz="2200" b="1" dirty="0">
                <a:solidFill>
                  <a:schemeClr val="bg1"/>
                </a:solidFill>
              </a:rPr>
              <a:t>Fonctionnement</a:t>
            </a:r>
            <a:endParaRPr lang="en-US" sz="2200" dirty="0"/>
          </a:p>
        </p:txBody>
      </p:sp>
      <p:sp>
        <p:nvSpPr>
          <p:cNvPr id="8" name="Text 6"/>
          <p:cNvSpPr txBox="1"/>
          <p:nvPr/>
        </p:nvSpPr>
        <p:spPr>
          <a:xfrm>
            <a:off x="3291840" y="1828800"/>
            <a:ext cx="2560320" cy="502920"/>
          </a:xfrm>
          <a:prstGeom prst="rect">
            <a:avLst/>
          </a:prstGeom>
          <a:noFill/>
          <a:ln/>
        </p:spPr>
        <p:txBody>
          <a:bodyPr wrap="square" lIns="0" tIns="0" rIns="0" bIns="0" rtlCol="0" anchor="t"/>
          <a:lstStyle/>
          <a:p>
            <a:pPr indent="0" marL="0">
              <a:buNone/>
            </a:pPr>
            <a:r>
              <a:rPr lang="en-US" sz="1400" dirty="0">
                <a:solidFill>
                  <a:schemeClr val="accent4"/>
                </a:solidFill>
              </a:rPr>
              <a:t>Les 10 objets et tous les gestes marchent-ils ?</a:t>
            </a:r>
            <a:endParaRPr lang="en-US" sz="1400" dirty="0"/>
          </a:p>
        </p:txBody>
      </p:sp>
      <p:sp>
        <p:nvSpPr>
          <p:cNvPr id="9" name="Text 7"/>
          <p:cNvSpPr txBox="1"/>
          <p:nvPr/>
        </p:nvSpPr>
        <p:spPr>
          <a:xfrm>
            <a:off x="3291840" y="2377440"/>
            <a:ext cx="2651760" cy="36576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 TESTS MANUELS ET AUTOMATIQUES</a:t>
            </a:r>
            <a:endParaRPr lang="en-US" sz="1000" dirty="0"/>
          </a:p>
        </p:txBody>
      </p:sp>
      <p:sp>
        <p:nvSpPr>
          <p:cNvPr id="10" name="Text 8"/>
          <p:cNvSpPr txBox="1"/>
          <p:nvPr/>
        </p:nvSpPr>
        <p:spPr>
          <a:xfrm>
            <a:off x="6126480" y="1417320"/>
            <a:ext cx="2651760" cy="365760"/>
          </a:xfrm>
          <a:prstGeom prst="rect">
            <a:avLst/>
          </a:prstGeom>
          <a:noFill/>
          <a:ln/>
        </p:spPr>
        <p:txBody>
          <a:bodyPr wrap="square" lIns="0" tIns="0" rIns="0" bIns="0" rtlCol="0" anchor="t"/>
          <a:lstStyle/>
          <a:p>
            <a:pPr indent="0" marL="0">
              <a:buNone/>
            </a:pPr>
            <a:r>
              <a:rPr lang="en-US" sz="2200" b="1" dirty="0">
                <a:solidFill>
                  <a:schemeClr val="bg1"/>
                </a:solidFill>
              </a:rPr>
              <a:t>Qualité</a:t>
            </a:r>
            <a:endParaRPr lang="en-US" sz="2200" dirty="0"/>
          </a:p>
        </p:txBody>
      </p:sp>
      <p:sp>
        <p:nvSpPr>
          <p:cNvPr id="11" name="Text 9"/>
          <p:cNvSpPr txBox="1"/>
          <p:nvPr/>
        </p:nvSpPr>
        <p:spPr>
          <a:xfrm>
            <a:off x="6126480" y="1828800"/>
            <a:ext cx="2560320" cy="502920"/>
          </a:xfrm>
          <a:prstGeom prst="rect">
            <a:avLst/>
          </a:prstGeom>
          <a:noFill/>
          <a:ln/>
        </p:spPr>
        <p:txBody>
          <a:bodyPr wrap="square" lIns="0" tIns="0" rIns="0" bIns="0" rtlCol="0" anchor="t"/>
          <a:lstStyle/>
          <a:p>
            <a:pPr indent="0" marL="0">
              <a:buNone/>
            </a:pPr>
            <a:r>
              <a:rPr lang="en-US" sz="1400" dirty="0">
                <a:solidFill>
                  <a:schemeClr val="accent4"/>
                </a:solidFill>
              </a:rPr>
              <a:t>Le code est-il lisible et sans erreur ?</a:t>
            </a:r>
            <a:endParaRPr lang="en-US" sz="1400" dirty="0"/>
          </a:p>
        </p:txBody>
      </p:sp>
      <p:sp>
        <p:nvSpPr>
          <p:cNvPr id="12" name="Text 10"/>
          <p:cNvSpPr txBox="1"/>
          <p:nvPr/>
        </p:nvSpPr>
        <p:spPr>
          <a:xfrm>
            <a:off x="6126480" y="2377440"/>
            <a:ext cx="2651760" cy="36576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 SYNTAXE, ESLINT</a:t>
            </a:r>
            <a:endParaRPr lang="en-US" sz="1000" dirty="0"/>
          </a:p>
        </p:txBody>
      </p:sp>
      <p:sp>
        <p:nvSpPr>
          <p:cNvPr id="13" name="Text 11"/>
          <p:cNvSpPr txBox="1"/>
          <p:nvPr/>
        </p:nvSpPr>
        <p:spPr>
          <a:xfrm>
            <a:off x="457200" y="2880360"/>
            <a:ext cx="2651760" cy="365760"/>
          </a:xfrm>
          <a:prstGeom prst="rect">
            <a:avLst/>
          </a:prstGeom>
          <a:noFill/>
          <a:ln/>
        </p:spPr>
        <p:txBody>
          <a:bodyPr wrap="square" lIns="0" tIns="0" rIns="0" bIns="0" rtlCol="0" anchor="t"/>
          <a:lstStyle/>
          <a:p>
            <a:pPr indent="0" marL="0">
              <a:buNone/>
            </a:pPr>
            <a:r>
              <a:rPr lang="en-US" sz="2200" b="1" dirty="0">
                <a:solidFill>
                  <a:schemeClr val="bg1"/>
                </a:solidFill>
              </a:rPr>
              <a:t>Sécurité</a:t>
            </a:r>
            <a:endParaRPr lang="en-US" sz="2200" dirty="0"/>
          </a:p>
        </p:txBody>
      </p:sp>
      <p:sp>
        <p:nvSpPr>
          <p:cNvPr id="14" name="Text 12"/>
          <p:cNvSpPr txBox="1"/>
          <p:nvPr/>
        </p:nvSpPr>
        <p:spPr>
          <a:xfrm>
            <a:off x="457200" y="3291840"/>
            <a:ext cx="2560320" cy="502920"/>
          </a:xfrm>
          <a:prstGeom prst="rect">
            <a:avLst/>
          </a:prstGeom>
          <a:noFill/>
          <a:ln/>
        </p:spPr>
        <p:txBody>
          <a:bodyPr wrap="square" lIns="0" tIns="0" rIns="0" bIns="0" rtlCol="0" anchor="t"/>
          <a:lstStyle/>
          <a:p>
            <a:pPr indent="0" marL="0">
              <a:buNone/>
            </a:pPr>
            <a:r>
              <a:rPr lang="en-US" sz="1400" dirty="0">
                <a:solidFill>
                  <a:schemeClr val="accent4"/>
                </a:solidFill>
              </a:rPr>
              <a:t>L'image de la caméra reste-t-elle locale ?</a:t>
            </a:r>
            <a:endParaRPr lang="en-US" sz="1400" dirty="0"/>
          </a:p>
        </p:txBody>
      </p:sp>
      <p:sp>
        <p:nvSpPr>
          <p:cNvPr id="15" name="Text 13"/>
          <p:cNvSpPr txBox="1"/>
          <p:nvPr/>
        </p:nvSpPr>
        <p:spPr>
          <a:xfrm>
            <a:off x="457200" y="3840480"/>
            <a:ext cx="2651760" cy="36576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 ONGLET RÉSEAU (F12), CSP</a:t>
            </a:r>
            <a:endParaRPr lang="en-US" sz="1000" dirty="0"/>
          </a:p>
        </p:txBody>
      </p:sp>
      <p:sp>
        <p:nvSpPr>
          <p:cNvPr id="16" name="Text 14"/>
          <p:cNvSpPr txBox="1"/>
          <p:nvPr/>
        </p:nvSpPr>
        <p:spPr>
          <a:xfrm>
            <a:off x="3291840" y="2880360"/>
            <a:ext cx="2651760" cy="365760"/>
          </a:xfrm>
          <a:prstGeom prst="rect">
            <a:avLst/>
          </a:prstGeom>
          <a:noFill/>
          <a:ln/>
        </p:spPr>
        <p:txBody>
          <a:bodyPr wrap="square" lIns="0" tIns="0" rIns="0" bIns="0" rtlCol="0" anchor="t"/>
          <a:lstStyle/>
          <a:p>
            <a:pPr indent="0" marL="0">
              <a:buNone/>
            </a:pPr>
            <a:r>
              <a:rPr lang="en-US" sz="2200" b="1" dirty="0">
                <a:solidFill>
                  <a:schemeClr val="bg1"/>
                </a:solidFill>
              </a:rPr>
              <a:t>Contenu</a:t>
            </a:r>
            <a:endParaRPr lang="en-US" sz="2200" dirty="0"/>
          </a:p>
        </p:txBody>
      </p:sp>
      <p:sp>
        <p:nvSpPr>
          <p:cNvPr id="17" name="Text 15"/>
          <p:cNvSpPr txBox="1"/>
          <p:nvPr/>
        </p:nvSpPr>
        <p:spPr>
          <a:xfrm>
            <a:off x="3291840" y="3291840"/>
            <a:ext cx="2560320" cy="502920"/>
          </a:xfrm>
          <a:prstGeom prst="rect">
            <a:avLst/>
          </a:prstGeom>
          <a:noFill/>
          <a:ln/>
        </p:spPr>
        <p:txBody>
          <a:bodyPr wrap="square" lIns="0" tIns="0" rIns="0" bIns="0" rtlCol="0" anchor="t"/>
          <a:lstStyle/>
          <a:p>
            <a:pPr indent="0" marL="0">
              <a:buNone/>
            </a:pPr>
            <a:r>
              <a:rPr lang="en-US" sz="1400" dirty="0">
                <a:solidFill>
                  <a:schemeClr val="accent4"/>
                </a:solidFill>
              </a:rPr>
              <a:t>Les fiches techniques sont-elles exactes ?</a:t>
            </a:r>
            <a:endParaRPr lang="en-US" sz="1400" dirty="0"/>
          </a:p>
        </p:txBody>
      </p:sp>
      <p:sp>
        <p:nvSpPr>
          <p:cNvPr id="18" name="Text 16"/>
          <p:cNvSpPr txBox="1"/>
          <p:nvPr/>
        </p:nvSpPr>
        <p:spPr>
          <a:xfrm>
            <a:off x="3291840" y="3840480"/>
            <a:ext cx="2651760" cy="36576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 MANUEL CONSTRUCTEUR, SOURCE</a:t>
            </a:r>
            <a:endParaRPr lang="en-US" sz="1000" dirty="0"/>
          </a:p>
        </p:txBody>
      </p:sp>
      <p:sp>
        <p:nvSpPr>
          <p:cNvPr id="19" name="Text 17"/>
          <p:cNvSpPr txBox="1"/>
          <p:nvPr/>
        </p:nvSpPr>
        <p:spPr>
          <a:xfrm>
            <a:off x="6126480" y="2880360"/>
            <a:ext cx="2651760" cy="365760"/>
          </a:xfrm>
          <a:prstGeom prst="rect">
            <a:avLst/>
          </a:prstGeom>
          <a:noFill/>
          <a:ln/>
        </p:spPr>
        <p:txBody>
          <a:bodyPr wrap="square" lIns="0" tIns="0" rIns="0" bIns="0" rtlCol="0" anchor="t"/>
          <a:lstStyle/>
          <a:p>
            <a:pPr indent="0" marL="0">
              <a:buNone/>
            </a:pPr>
            <a:r>
              <a:rPr lang="en-US" sz="2200" b="1" dirty="0">
                <a:solidFill>
                  <a:schemeClr val="bg1"/>
                </a:solidFill>
              </a:rPr>
              <a:t>Performance</a:t>
            </a:r>
            <a:endParaRPr lang="en-US" sz="2200" dirty="0"/>
          </a:p>
        </p:txBody>
      </p:sp>
      <p:sp>
        <p:nvSpPr>
          <p:cNvPr id="20" name="Text 18"/>
          <p:cNvSpPr txBox="1"/>
          <p:nvPr/>
        </p:nvSpPr>
        <p:spPr>
          <a:xfrm>
            <a:off x="6126480" y="3291840"/>
            <a:ext cx="2560320" cy="502920"/>
          </a:xfrm>
          <a:prstGeom prst="rect">
            <a:avLst/>
          </a:prstGeom>
          <a:noFill/>
          <a:ln/>
        </p:spPr>
        <p:txBody>
          <a:bodyPr wrap="square" lIns="0" tIns="0" rIns="0" bIns="0" rtlCol="0" anchor="t"/>
          <a:lstStyle/>
          <a:p>
            <a:pPr indent="0" marL="0">
              <a:buNone/>
            </a:pPr>
            <a:r>
              <a:rPr lang="en-US" sz="1400" dirty="0">
                <a:solidFill>
                  <a:schemeClr val="accent4"/>
                </a:solidFill>
              </a:rPr>
              <a:t>Est-ce fluide et utilisable sans caméra ?</a:t>
            </a:r>
            <a:endParaRPr lang="en-US" sz="1400" dirty="0"/>
          </a:p>
        </p:txBody>
      </p:sp>
      <p:sp>
        <p:nvSpPr>
          <p:cNvPr id="21" name="Text 19"/>
          <p:cNvSpPr txBox="1"/>
          <p:nvPr/>
        </p:nvSpPr>
        <p:spPr>
          <a:xfrm>
            <a:off x="6126480" y="3840480"/>
            <a:ext cx="2651760" cy="365760"/>
          </a:xfrm>
          <a:prstGeom prst="rect">
            <a:avLst/>
          </a:prstGeom>
          <a:noFill/>
          <a:ln/>
        </p:spPr>
        <p:txBody>
          <a:bodyPr wrap="square" lIns="0" tIns="0" rIns="0" bIns="0" rtlCol="0" anchor="t"/>
          <a:lstStyle/>
          <a:p>
            <a:pPr indent="0" marL="0">
              <a:buNone/>
            </a:pPr>
            <a:r>
              <a:rPr lang="en-US" sz="1000" b="1" dirty="0">
                <a:solidFill>
                  <a:schemeClr val="accent1"/>
                </a:solidFill>
                <a:latin typeface="Courier New" pitchFamily="34" charset="0"/>
                <a:ea typeface="Courier New" pitchFamily="34" charset="-122"/>
                <a:cs typeface="Courier New" pitchFamily="34" charset="-120"/>
              </a:rPr>
              <a:t>→ LIGHTHOUSE, ESSAI À LA SOURIS</a:t>
            </a:r>
            <a:endParaRPr lang="en-US" sz="1000" dirty="0"/>
          </a:p>
        </p:txBody>
      </p:sp>
      <p:sp>
        <p:nvSpPr>
          <p:cNvPr id="22" name="Text 20"/>
          <p:cNvSpPr txBox="1"/>
          <p:nvPr/>
        </p:nvSpPr>
        <p:spPr>
          <a:xfrm>
            <a:off x="457200" y="4434840"/>
            <a:ext cx="8229600" cy="201168"/>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CHAQUE VÉRIFICATION EST CONSIGNÉE DANS UN JOURNAL D'AUDIT</a:t>
            </a:r>
            <a:endParaRPr lang="en-US" sz="11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claude-0/-home-claude/053c1737-0915-558c-9e1b-4dff4915d402/scratchpad/assets/drone_ex.jp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ph idx="100" type="body" hasCustomPrompt="1"/>
          </p:nvPr>
        </p:nvSpPr>
        <p:spPr>
          <a:xfrm>
            <a:off x="457200" y="274320"/>
            <a:ext cx="5486400" cy="228600"/>
          </a:xfrm>
          <a:prstGeom prst="rect">
            <a:avLst/>
          </a:prstGeom>
          <a:noFill/>
          <a:ln/>
        </p:spPr>
        <p:txBody>
          <a:bodyPr wrap="square" lIns="0" tIns="0" rIns="0" bIns="0" rtlCol="0" anchor="ct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EN RÉSUMÉ</a:t>
            </a:r>
            <a:endParaRPr lang="en-US" sz="1200" dirty="0"/>
          </a:p>
        </p:txBody>
      </p:sp>
      <p:sp>
        <p:nvSpPr>
          <p:cNvPr id="4" name="Text 0"/>
          <p:cNvSpPr/>
          <p:nvPr>
            <p:ph idx="101" type="title" hasCustomPrompt="1"/>
          </p:nvPr>
        </p:nvSpPr>
        <p:spPr>
          <a:xfrm>
            <a:off x="457200" y="530352"/>
            <a:ext cx="8229600" cy="685800"/>
          </a:xfrm>
          <a:prstGeom prst="rect">
            <a:avLst/>
          </a:prstGeom>
          <a:noFill/>
          <a:ln/>
        </p:spPr>
        <p:txBody>
          <a:bodyPr wrap="square" lIns="0" tIns="0" rIns="0" bIns="0" rtlCol="0" anchor="ctr"/>
          <a:lstStyle/>
          <a:p>
            <a:pPr algn="l" indent="0" marL="0">
              <a:buNone/>
            </a:pPr>
            <a:r>
              <a:rPr lang="en-US" sz="4000" b="1" dirty="0">
                <a:solidFill>
                  <a:schemeClr val="bg1"/>
                </a:solidFill>
              </a:rPr>
              <a:t>Trois idées</a:t>
            </a:r>
            <a:endParaRPr lang="en-US" sz="4000" dirty="0"/>
          </a:p>
        </p:txBody>
      </p:sp>
      <p:sp>
        <p:nvSpPr>
          <p:cNvPr id="5" name="Text 2"/>
          <p:cNvSpPr txBox="1"/>
          <p:nvPr/>
        </p:nvSpPr>
        <p:spPr>
          <a:xfrm>
            <a:off x="457200" y="1444752"/>
            <a:ext cx="457200" cy="22860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01</a:t>
            </a:r>
            <a:endParaRPr lang="en-US" sz="1200" dirty="0"/>
          </a:p>
        </p:txBody>
      </p:sp>
      <p:sp>
        <p:nvSpPr>
          <p:cNvPr id="6" name="Text 3"/>
          <p:cNvSpPr txBox="1"/>
          <p:nvPr/>
        </p:nvSpPr>
        <p:spPr>
          <a:xfrm>
            <a:off x="960120" y="1417320"/>
            <a:ext cx="3108960" cy="777240"/>
          </a:xfrm>
          <a:prstGeom prst="rect">
            <a:avLst/>
          </a:prstGeom>
          <a:noFill/>
          <a:ln/>
        </p:spPr>
        <p:txBody>
          <a:bodyPr wrap="square" lIns="0" tIns="0" rIns="0" bIns="0" rtlCol="0" anchor="t"/>
          <a:lstStyle/>
          <a:p>
            <a:pPr indent="0" marL="0">
              <a:buNone/>
            </a:pPr>
            <a:r>
              <a:rPr lang="en-US" sz="1800" dirty="0">
                <a:solidFill>
                  <a:schemeClr val="bg1"/>
                </a:solidFill>
              </a:rPr>
              <a:t>Un prototype fonctionnel : 10 équipements pilotés à la main</a:t>
            </a:r>
            <a:endParaRPr lang="en-US" sz="1800" dirty="0"/>
          </a:p>
        </p:txBody>
      </p:sp>
      <p:sp>
        <p:nvSpPr>
          <p:cNvPr id="7" name="Text 4"/>
          <p:cNvSpPr txBox="1"/>
          <p:nvPr/>
        </p:nvSpPr>
        <p:spPr>
          <a:xfrm>
            <a:off x="457200" y="2359152"/>
            <a:ext cx="457200" cy="22860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02</a:t>
            </a:r>
            <a:endParaRPr lang="en-US" sz="1200" dirty="0"/>
          </a:p>
        </p:txBody>
      </p:sp>
      <p:sp>
        <p:nvSpPr>
          <p:cNvPr id="8" name="Text 5"/>
          <p:cNvSpPr txBox="1"/>
          <p:nvPr/>
        </p:nvSpPr>
        <p:spPr>
          <a:xfrm>
            <a:off x="960120" y="2331720"/>
            <a:ext cx="3108960" cy="777240"/>
          </a:xfrm>
          <a:prstGeom prst="rect">
            <a:avLst/>
          </a:prstGeom>
          <a:noFill/>
          <a:ln/>
        </p:spPr>
        <p:txBody>
          <a:bodyPr wrap="square" lIns="0" tIns="0" rIns="0" bIns="0" rtlCol="0" anchor="t"/>
          <a:lstStyle/>
          <a:p>
            <a:pPr indent="0" marL="0">
              <a:buNone/>
            </a:pPr>
            <a:r>
              <a:rPr lang="en-US" sz="1800" dirty="0">
                <a:solidFill>
                  <a:schemeClr val="bg1"/>
                </a:solidFill>
              </a:rPr>
              <a:t>Une architecture simple et locale, à modulariser</a:t>
            </a:r>
            <a:endParaRPr lang="en-US" sz="1800" dirty="0"/>
          </a:p>
        </p:txBody>
      </p:sp>
      <p:sp>
        <p:nvSpPr>
          <p:cNvPr id="9" name="Text 6"/>
          <p:cNvSpPr txBox="1"/>
          <p:nvPr/>
        </p:nvSpPr>
        <p:spPr>
          <a:xfrm>
            <a:off x="457200" y="3273552"/>
            <a:ext cx="457200" cy="22860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03</a:t>
            </a:r>
            <a:endParaRPr lang="en-US" sz="1200" dirty="0"/>
          </a:p>
        </p:txBody>
      </p:sp>
      <p:sp>
        <p:nvSpPr>
          <p:cNvPr id="10" name="Text 7"/>
          <p:cNvSpPr txBox="1"/>
          <p:nvPr/>
        </p:nvSpPr>
        <p:spPr>
          <a:xfrm>
            <a:off x="960120" y="3246120"/>
            <a:ext cx="3108960" cy="777240"/>
          </a:xfrm>
          <a:prstGeom prst="rect">
            <a:avLst/>
          </a:prstGeom>
          <a:noFill/>
          <a:ln/>
        </p:spPr>
        <p:txBody>
          <a:bodyPr wrap="square" lIns="0" tIns="0" rIns="0" bIns="0" rtlCol="0" anchor="t"/>
          <a:lstStyle/>
          <a:p>
            <a:pPr indent="0" marL="0">
              <a:buNone/>
            </a:pPr>
            <a:r>
              <a:rPr lang="en-US" sz="1800" dirty="0">
                <a:solidFill>
                  <a:schemeClr val="bg1"/>
                </a:solidFill>
              </a:rPr>
              <a:t>Un code vérifié et compris, pas seulement généré</a:t>
            </a:r>
            <a:endParaRPr lang="en-US" sz="1800" dirty="0"/>
          </a:p>
        </p:txBody>
      </p:sp>
      <p:sp>
        <p:nvSpPr>
          <p:cNvPr id="11" name="Text 8"/>
          <p:cNvSpPr txBox="1"/>
          <p:nvPr/>
        </p:nvSpPr>
        <p:spPr>
          <a:xfrm>
            <a:off x="457200" y="4206240"/>
            <a:ext cx="5029200" cy="457200"/>
          </a:xfrm>
          <a:prstGeom prst="rect">
            <a:avLst/>
          </a:prstGeom>
          <a:noFill/>
          <a:ln/>
        </p:spPr>
        <p:txBody>
          <a:bodyPr wrap="square" lIns="0" tIns="0" rIns="0" bIns="0" rtlCol="0" anchor="t"/>
          <a:lstStyle/>
          <a:p>
            <a:pPr indent="0" marL="0">
              <a:buNone/>
            </a:pPr>
            <a:r>
              <a:rPr lang="en-US" sz="2400" i="1" dirty="0">
                <a:solidFill>
                  <a:schemeClr val="accent6"/>
                </a:solidFill>
              </a:rPr>
              <a:t>Merci, place aux questions.</a:t>
            </a:r>
            <a:endParaRPr lang="en-US" sz="2400" dirty="0"/>
          </a:p>
        </p:txBody>
      </p:sp>
      <p:sp>
        <p:nvSpPr>
          <p:cNvPr id="25" name="Slide Number Placeholder 0"/>
          <p:cNvSpPr>
            <a:spLocks noGrp="1"/>
          </p:cNvSpPr>
          <p:nvPr>
            <p:ph type="sldNum" sz="quarter" idx="4294967295"/>
          </p:nvPr>
        </p:nvSpPr>
        <p:spPr>
          <a:xfrm>
            <a:off x="8229600" y="4791456"/>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Planche technique">
  <a:themeElements>
    <a:clrScheme name="Planche technique">
      <a:dk1>
        <a:srgbClr val="07090C"/>
      </a:dk1>
      <a:lt1>
        <a:srgbClr val="F4F2EE"/>
      </a:lt1>
      <a:dk2>
        <a:srgbClr val="14181D"/>
      </a:dk2>
      <a:lt2>
        <a:srgbClr val="C9C5BC"/>
      </a:lt2>
      <a:accent1>
        <a:srgbClr val="FF5A1F"/>
      </a:accent1>
      <a:accent2>
        <a:srgbClr val="8A94A0"/>
      </a:accent2>
      <a:accent3>
        <a:srgbClr val="3A424B"/>
      </a:accent3>
      <a:accent4>
        <a:srgbClr val="C9C5BC"/>
      </a:accent4>
      <a:accent5>
        <a:srgbClr val="5A646F"/>
      </a:accent5>
      <a:accent6>
        <a:srgbClr val="FFB08A"/>
      </a:accent6>
      <a:hlink>
        <a:srgbClr val="FF5A1F"/>
      </a:hlink>
      <a:folHlink>
        <a:srgbClr val="8A94A0"/>
      </a:folHlink>
    </a:clrScheme>
    <a:fontScheme name="Planche techniq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Atelier 3D piloté par la main</dc:title>
  <dc:subject>PptxGenJS Presentation</dc:subject>
  <dc:creator>M. Kenneth</dc:creator>
  <cp:lastModifiedBy>M. Kenneth</cp:lastModifiedBy>
  <cp:revision>1</cp:revision>
  <dcterms:created xsi:type="dcterms:W3CDTF">2026-10-14T08:50:45Z</dcterms:created>
  <dcterms:modified xsi:type="dcterms:W3CDTF">2026-10-14T08:50:45Z</dcterms:modified>
</cp:coreProperties>
</file>